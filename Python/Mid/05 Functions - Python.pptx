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3"/>
    <p:sldId id="310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8" Type="http://schemas.openxmlformats.org/officeDocument/2006/relationships/slide" Target="slides/slide16.xml"/><Relationship Id="rId13" Type="http://schemas.openxmlformats.org/officeDocument/2006/relationships/slide" Target="slides/slide11.xml"/><Relationship Id="rId26" Type="http://schemas.openxmlformats.org/officeDocument/2006/relationships/customXml" Target="../customXml/item2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7" Type="http://schemas.openxmlformats.org/officeDocument/2006/relationships/slide" Target="slides/slide15.xml"/><Relationship Id="rId12" Type="http://schemas.openxmlformats.org/officeDocument/2006/relationships/slide" Target="slides/slide10.xml"/><Relationship Id="rId25" Type="http://schemas.openxmlformats.org/officeDocument/2006/relationships/customXml" Target="../customXml/item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6" Type="http://schemas.openxmlformats.org/officeDocument/2006/relationships/slide" Target="slides/slide14.xml"/><Relationship Id="rId6" Type="http://schemas.openxmlformats.org/officeDocument/2006/relationships/slide" Target="slides/slide4.xml"/><Relationship Id="rId24" Type="http://schemas.openxmlformats.org/officeDocument/2006/relationships/tableStyles" Target="tableStyles.xml"/><Relationship Id="rId11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23" Type="http://schemas.openxmlformats.org/officeDocument/2006/relationships/viewProps" Target="viewProps.xml"/><Relationship Id="rId15" Type="http://schemas.openxmlformats.org/officeDocument/2006/relationships/slide" Target="slides/slide13.xml"/><Relationship Id="rId19" Type="http://schemas.openxmlformats.org/officeDocument/2006/relationships/slide" Target="slides/slide17.xml"/><Relationship Id="rId10" Type="http://schemas.openxmlformats.org/officeDocument/2006/relationships/slide" Target="slides/slide8.xml"/><Relationship Id="rId9" Type="http://schemas.openxmlformats.org/officeDocument/2006/relationships/slide" Target="slides/slide7.xml"/><Relationship Id="rId4" Type="http://schemas.openxmlformats.org/officeDocument/2006/relationships/slide" Target="slides/slide2.xml"/><Relationship Id="rId22" Type="http://schemas.openxmlformats.org/officeDocument/2006/relationships/presProps" Target="presProps.xml"/><Relationship Id="rId14" Type="http://schemas.openxmlformats.org/officeDocument/2006/relationships/slide" Target="slides/slide12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B71641-8734-46D9-88F9-282D04992F6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2FEF9-00A7-4721-A1E7-49360E233C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D2996E-1414-46EB-833C-A7A8E25E7BC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D2B390-6E97-40AF-AAF8-EE2206B664DE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D73B-8E25-4F68-87A7-1ECCB85C949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68A2-3BAC-44C9-9CCF-E0BC532BE6E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C9AA7-0089-449F-90FA-6A352F09F27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D8AC-E33E-427C-B1F9-B2C94C89EB9C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11E65-2F6E-4D9F-BB97-846AEF0CEBD4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0C4E-17A7-4EA9-BF6D-96FB5B13E43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FA27-E0A8-479E-8C2D-CEEF721D806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B713-984E-4B1F-9A8B-5572C93D24D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6C98-29EF-48EE-8C7C-83586B48103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9F70-B1F7-4194-8089-15E3B32DC4A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662A9B6-A2DB-440B-BF2E-69698A0DC05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/>
              <a:t>functions &amp; lambda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Programming in 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 Python a function is defined using the </a:t>
            </a:r>
            <a:r>
              <a:rPr lang="en-US" i="1" dirty="0"/>
              <a:t>def</a:t>
            </a:r>
            <a:r>
              <a:rPr lang="en-US" dirty="0"/>
              <a:t> keyword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01383" y="2944744"/>
            <a:ext cx="7589234" cy="195911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print("Hello from a function")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2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84818" y="2049404"/>
            <a:ext cx="7589234" cy="241102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+ " Refsnes")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("Emil")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("Tobias")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("Linus")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4818" y="4622559"/>
            <a:ext cx="7589234" cy="1625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Emil Refsnes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Tobias Refsnes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Linus Refsnes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26990" y="1051560"/>
            <a:ext cx="5888990" cy="9144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/>
              <a:t>Arguments are often shortened to </a:t>
            </a:r>
            <a:r>
              <a:rPr lang="en-US" sz="2200" dirty="0" err="1"/>
              <a:t>args</a:t>
            </a:r>
            <a:r>
              <a:rPr lang="en-US" sz="2200" dirty="0"/>
              <a:t> in Python documentation.</a:t>
            </a:r>
            <a:endParaRPr lang="en-AU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48311" y="2049402"/>
            <a:ext cx="5232003" cy="241102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+ " Refsnes")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("Emil")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("Tobias")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("Linus")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0" y="2049403"/>
            <a:ext cx="5531125" cy="241102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+ " " +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("Emil", "Refsnes")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64312" y="4647062"/>
            <a:ext cx="5531125" cy="17593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+ " " +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("Emil")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Arbitrary Arguments, *</a:t>
            </a:r>
            <a:r>
              <a:rPr lang="en-US" dirty="0" err="1"/>
              <a:t>args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84818" y="3039125"/>
            <a:ext cx="7589234" cy="19552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(*kids):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print("The youngest child is " + kids[2])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("Emil", "Tobias", "Linus")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Arbitrary Arguments, *</a:t>
            </a:r>
            <a:r>
              <a:rPr lang="en-US" dirty="0" err="1"/>
              <a:t>args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84818" y="3039125"/>
            <a:ext cx="7589234" cy="19552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(*kids):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print("The youngest child is " + kids[2])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("Emil", "Tobias", "Linus")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4818" y="5159829"/>
            <a:ext cx="7589234" cy="1088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The youngest child is Linus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46190" y="1845945"/>
            <a:ext cx="5222875" cy="10648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/>
              <a:t>This way the function will receive a tuple of arguments, and can access the items accordingly</a:t>
            </a:r>
            <a:endParaRPr lang="en-AU" sz="2200" dirty="0"/>
          </a:p>
        </p:txBody>
      </p:sp>
      <p:cxnSp>
        <p:nvCxnSpPr>
          <p:cNvPr id="9" name="Straight Arrow Connector 8"/>
          <p:cNvCxnSpPr>
            <a:stCxn id="8" idx="1"/>
          </p:cNvCxnSpPr>
          <p:nvPr/>
        </p:nvCxnSpPr>
        <p:spPr>
          <a:xfrm flipH="1">
            <a:off x="5366657" y="2378757"/>
            <a:ext cx="979242" cy="952272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Arguments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27957" y="3077308"/>
            <a:ext cx="11136086" cy="19552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(child3, child2, child1):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print("The youngest child is " + child3)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(child1 = "Emil", child2 = "Tobias", child3 = "Linus")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Arguments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27957" y="3077308"/>
            <a:ext cx="11136086" cy="19552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(child3, child2, child1):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print("The youngest child is " + child3)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(child1 = "Emil", child2 = "Tobias", child3 = "Linus")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4818" y="5159829"/>
            <a:ext cx="7589234" cy="1088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The youngest child is Linus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45899" y="1554938"/>
            <a:ext cx="5318144" cy="135635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/>
              <a:t>We can send arguments with the </a:t>
            </a:r>
            <a:endParaRPr lang="en-US" sz="2200" dirty="0"/>
          </a:p>
          <a:p>
            <a:pPr algn="just"/>
            <a:r>
              <a:rPr lang="en-US" sz="2200" b="1" i="1" dirty="0"/>
              <a:t>key = value</a:t>
            </a:r>
            <a:r>
              <a:rPr lang="en-US" sz="2200" dirty="0"/>
              <a:t> syntax.</a:t>
            </a:r>
            <a:endParaRPr lang="en-US" sz="2200" dirty="0"/>
          </a:p>
          <a:p>
            <a:pPr algn="just"/>
            <a:r>
              <a:rPr lang="en-US" sz="2200" dirty="0"/>
              <a:t>This way the order of the arguments does not matter.</a:t>
            </a:r>
            <a:endParaRPr lang="en-AU" sz="2200" dirty="0"/>
          </a:p>
        </p:txBody>
      </p:sp>
      <p:cxnSp>
        <p:nvCxnSpPr>
          <p:cNvPr id="9" name="Straight Arrow Connector 8"/>
          <p:cNvCxnSpPr>
            <a:stCxn id="8" idx="1"/>
          </p:cNvCxnSpPr>
          <p:nvPr/>
        </p:nvCxnSpPr>
        <p:spPr>
          <a:xfrm flipH="1">
            <a:off x="5366657" y="2233118"/>
            <a:ext cx="979242" cy="1097911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Arbitrary Keyword Arguments, **</a:t>
            </a:r>
            <a:r>
              <a:rPr lang="en-US" dirty="0" err="1"/>
              <a:t>kwargs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95213" y="3113149"/>
            <a:ext cx="8801573" cy="19552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(**kid):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print("His last name is " + kid["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"])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"Tobias",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"Refsnes")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Arbitrary Keyword Arguments, **</a:t>
            </a:r>
            <a:r>
              <a:rPr lang="en-US" dirty="0" err="1"/>
              <a:t>kwargs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95213" y="3113149"/>
            <a:ext cx="8801573" cy="19552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(**kid):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print("His last name is " + kid["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"])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"Tobias",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"Refsnes")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4818" y="5159829"/>
            <a:ext cx="7589234" cy="1088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His last name is Refsnes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45899" y="1785258"/>
            <a:ext cx="5318144" cy="11695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/>
              <a:t>This way the function will receive a dictionary of arguments, and can access the items accordingly.</a:t>
            </a:r>
            <a:endParaRPr lang="en-AU" sz="2200" dirty="0"/>
          </a:p>
        </p:txBody>
      </p:sp>
      <p:cxnSp>
        <p:nvCxnSpPr>
          <p:cNvPr id="9" name="Straight Arrow Connector 8"/>
          <p:cNvCxnSpPr>
            <a:stCxn id="8" idx="1"/>
          </p:cNvCxnSpPr>
          <p:nvPr/>
        </p:nvCxnSpPr>
        <p:spPr>
          <a:xfrm flipH="1">
            <a:off x="4822371" y="2370050"/>
            <a:ext cx="1523528" cy="1058950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Parameter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95213" y="2057400"/>
            <a:ext cx="8801573" cy="2455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(country = "Norway"):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print("I am from " + country)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("Sweden")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("India")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("Brazil")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01382" y="4641046"/>
            <a:ext cx="7589234" cy="17961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 am from Sweden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 am from India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 am from Norway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 am from Brazil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 List as an Argument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95213" y="2057400"/>
            <a:ext cx="8801573" cy="26349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(food):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for x in food: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print(x)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fruits = ["apple", "banana", "cherry"]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(fruits)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01382" y="4844142"/>
            <a:ext cx="7589234" cy="15930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apple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banana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cherry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&amp; Pass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43000" y="2057400"/>
            <a:ext cx="5512667" cy="21989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(x):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</a:t>
            </a:r>
            <a:r>
              <a:rPr lang="en-US" sz="22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return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5 * x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(3))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(5))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(9))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04282" y="2360334"/>
            <a:ext cx="3511589" cy="15930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15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25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45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Arrow: Right 6"/>
          <p:cNvSpPr/>
          <p:nvPr/>
        </p:nvSpPr>
        <p:spPr>
          <a:xfrm>
            <a:off x="6540785" y="291454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1143000" y="4883453"/>
            <a:ext cx="5512667" cy="127646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myfunction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</a:t>
            </a:r>
            <a:r>
              <a:rPr lang="en-US" sz="22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pass</a:t>
            </a:r>
            <a:endParaRPr lang="en-AU" sz="22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77380" y="4389755"/>
            <a:ext cx="4817745" cy="219900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/>
              <a:t>function definitions cannot be empty, but if we for some reason have a function definition with no content, put in the </a:t>
            </a:r>
            <a:r>
              <a:rPr lang="en-US" sz="2200" b="1" i="1" dirty="0"/>
              <a:t>pass</a:t>
            </a:r>
            <a:r>
              <a:rPr lang="en-US" sz="2200" dirty="0"/>
              <a:t> statement to avoid getting an error.</a:t>
            </a:r>
            <a:endParaRPr lang="en-AU" sz="2200" dirty="0"/>
          </a:p>
        </p:txBody>
      </p:sp>
      <p:sp>
        <p:nvSpPr>
          <p:cNvPr id="10" name="Arrow: Right 9"/>
          <p:cNvSpPr/>
          <p:nvPr/>
        </p:nvSpPr>
        <p:spPr>
          <a:xfrm>
            <a:off x="5978987" y="524718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35428" y="2057400"/>
            <a:ext cx="6574971" cy="36093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1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tri_recursion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(k):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if(k &gt; 0):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result = k + </a:t>
            </a:r>
            <a:r>
              <a:rPr lang="en-US" sz="2200" b="1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tri_recursion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(k - 1)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print(result)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else: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result = 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return result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print("Recursion Example Results:")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1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tri_recursion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(6)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26693" y="2310881"/>
            <a:ext cx="4627850" cy="31024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Recursion Example Results: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1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6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10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15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21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704020202020204" pitchFamily="34" charset="0"/>
              <a:buChar char="•"/>
            </a:pPr>
            <a:r>
              <a:rPr lang="en-US" sz="2200" dirty="0"/>
              <a:t>A lambda function is a small anonymous function.</a:t>
            </a:r>
            <a:endParaRPr lang="en-US" sz="2200" dirty="0"/>
          </a:p>
          <a:p>
            <a:pPr algn="just">
              <a:buFont typeface="Arial" panose="020B0704020202020204" pitchFamily="34" charset="0"/>
              <a:buChar char="•"/>
            </a:pPr>
            <a:r>
              <a:rPr lang="en-US" sz="2200" dirty="0"/>
              <a:t>A lambda function can take any number of arguments, but can only have one expression.</a:t>
            </a:r>
            <a:endParaRPr lang="en-US" sz="2200" dirty="0"/>
          </a:p>
          <a:p>
            <a:pPr algn="just"/>
            <a:endParaRPr lang="en-US" sz="2200" dirty="0"/>
          </a:p>
          <a:p>
            <a:pPr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80557" y="3759770"/>
            <a:ext cx="7630886" cy="6702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lambda arguments : expression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79172"/>
            <a:ext cx="9872871" cy="4038600"/>
          </a:xfrm>
        </p:spPr>
        <p:txBody>
          <a:bodyPr>
            <a:normAutofit/>
          </a:bodyPr>
          <a:lstStyle/>
          <a:p>
            <a:pPr algn="just"/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43000" y="2079172"/>
            <a:ext cx="5644243" cy="111034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lambda a : a + 10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print(x(5))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2999" y="3429000"/>
            <a:ext cx="5644243" cy="111034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lambda a, b : a * b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print(x(5, 6))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2998" y="4849585"/>
            <a:ext cx="5644243" cy="111034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lambda a, b, c : a + b + c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print(x(5, 6, 2))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26693" y="2195026"/>
            <a:ext cx="3822307" cy="8786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15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26692" y="3544854"/>
            <a:ext cx="3822307" cy="8786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30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26692" y="4965439"/>
            <a:ext cx="3822307" cy="8786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13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1" name="Arrow: Right 10"/>
          <p:cNvSpPr/>
          <p:nvPr/>
        </p:nvSpPr>
        <p:spPr>
          <a:xfrm>
            <a:off x="6574970" y="2392026"/>
            <a:ext cx="61859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Arrow: Right 11"/>
          <p:cNvSpPr/>
          <p:nvPr/>
        </p:nvSpPr>
        <p:spPr>
          <a:xfrm>
            <a:off x="6573076" y="3736413"/>
            <a:ext cx="61859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rrow: Right 12"/>
          <p:cNvSpPr/>
          <p:nvPr/>
        </p:nvSpPr>
        <p:spPr>
          <a:xfrm>
            <a:off x="6573076" y="5156781"/>
            <a:ext cx="61859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Lambda?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67066" y="2072016"/>
            <a:ext cx="8186530" cy="310242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myfunc(n):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return lambda a : a * n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mydoubler = myfunc(2)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mytripler = myfunc(3)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print(mydoubler(11))</a:t>
            </a:r>
            <a:endParaRPr lang="pt-B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pt-B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print(mytripler(11))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67066" y="5305998"/>
            <a:ext cx="8186530" cy="11274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22</a:t>
            </a:r>
            <a:endParaRPr lang="en-US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33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04685" y="2428240"/>
            <a:ext cx="5382630" cy="20015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200" dirty="0"/>
              <a:t>Questions?</a:t>
            </a:r>
            <a:endParaRPr lang="en-AU" sz="2200" dirty="0"/>
          </a:p>
          <a:p>
            <a:pPr algn="ctr"/>
            <a:endParaRPr lang="en-AU" sz="2200" dirty="0"/>
          </a:p>
          <a:p>
            <a:pPr algn="ctr"/>
            <a:r>
              <a:rPr lang="en-AU" sz="2200" dirty="0"/>
              <a:t>Thank you!</a:t>
            </a:r>
            <a:endParaRPr lang="en-AU" sz="2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Tw Cen MT-Rockwell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07D91D2FC448468F51D485BC1D6DA6" ma:contentTypeVersion="3" ma:contentTypeDescription="Create a new document." ma:contentTypeScope="" ma:versionID="c6051ea7ee6ff37683b0f8c01533e148">
  <xsd:schema xmlns:xsd="http://www.w3.org/2001/XMLSchema" xmlns:xs="http://www.w3.org/2001/XMLSchema" xmlns:p="http://schemas.microsoft.com/office/2006/metadata/properties" xmlns:ns2="d7262947-e457-4244-af88-a4355427ccde" targetNamespace="http://schemas.microsoft.com/office/2006/metadata/properties" ma:root="true" ma:fieldsID="6f800628f432177d92f1ead30b09b067" ns2:_="">
    <xsd:import namespace="d7262947-e457-4244-af88-a4355427cc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262947-e457-4244-af88-a4355427cc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57F86B-0E58-4965-986B-94B7B3E4BFDC}"/>
</file>

<file path=customXml/itemProps2.xml><?xml version="1.0" encoding="utf-8"?>
<ds:datastoreItem xmlns:ds="http://schemas.openxmlformats.org/officeDocument/2006/customXml" ds:itemID="{C577FBBA-772C-40A2-BD99-7D0BF446DC5B}"/>
</file>

<file path=customXml/itemProps3.xml><?xml version="1.0" encoding="utf-8"?>
<ds:datastoreItem xmlns:ds="http://schemas.openxmlformats.org/officeDocument/2006/customXml" ds:itemID="{E5962E73-2FB2-462E-A6F0-62CC8D0B6201}"/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0</TotalTime>
  <Words>3381</Words>
  <Application>WPS Presentation</Application>
  <PresentationFormat>Widescreen</PresentationFormat>
  <Paragraphs>263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SimSun</vt:lpstr>
      <vt:lpstr>Wingdings</vt:lpstr>
      <vt:lpstr>Corbel</vt:lpstr>
      <vt:lpstr>苹方-简</vt:lpstr>
      <vt:lpstr>Courier New</vt:lpstr>
      <vt:lpstr>Rockwell</vt:lpstr>
      <vt:lpstr>Tw Cen MT</vt:lpstr>
      <vt:lpstr>Microsoft YaHei</vt:lpstr>
      <vt:lpstr>汉仪旗黑</vt:lpstr>
      <vt:lpstr>Arial Unicode MS</vt:lpstr>
      <vt:lpstr>Aptos</vt:lpstr>
      <vt:lpstr>Helvetica Neue</vt:lpstr>
      <vt:lpstr>汉仪书宋二KW</vt:lpstr>
      <vt:lpstr>Basis</vt:lpstr>
      <vt:lpstr>functions &amp; lambda</vt:lpstr>
      <vt:lpstr>Functions</vt:lpstr>
      <vt:lpstr>Arguments</vt:lpstr>
      <vt:lpstr>Arguments</vt:lpstr>
      <vt:lpstr>Arbitrary Arguments, *args</vt:lpstr>
      <vt:lpstr>Arbitrary Arguments, *args</vt:lpstr>
      <vt:lpstr>Keyword Arguments</vt:lpstr>
      <vt:lpstr>Keyword Arguments</vt:lpstr>
      <vt:lpstr>Arbitrary Keyword Arguments, **kwargs</vt:lpstr>
      <vt:lpstr>Arbitrary Keyword Arguments, **kwargs</vt:lpstr>
      <vt:lpstr>Default Parameter Value</vt:lpstr>
      <vt:lpstr>Passing a List as an Argument</vt:lpstr>
      <vt:lpstr>Return &amp; Pass</vt:lpstr>
      <vt:lpstr>Recursion</vt:lpstr>
      <vt:lpstr>Lambda</vt:lpstr>
      <vt:lpstr>Lambda</vt:lpstr>
      <vt:lpstr>Why Lambda?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Abdus Salam</dc:creator>
  <cp:lastModifiedBy>KONOK</cp:lastModifiedBy>
  <cp:revision>6</cp:revision>
  <dcterms:created xsi:type="dcterms:W3CDTF">2026-06-15T10:45:35Z</dcterms:created>
  <dcterms:modified xsi:type="dcterms:W3CDTF">2026-06-15T10:45:35Z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2BE8A4643735AC1BF2032D6A0A4BBE53_42</vt:lpwstr>
  </property>
  <property fmtid="{D5CDD505-2E9C-101B-9397-08002B2CF9AE}" pid="3" name="KSOProductBuildVer">
    <vt:lpwstr>1033-12.1.25897.25897</vt:lpwstr>
  </property>
  <property fmtid="{D5CDD505-2E9C-101B-9397-08002B2CF9AE}" pid="4" name="ContentTypeId">
    <vt:lpwstr>0x010100FC07D91D2FC448468F51D485BC1D6DA6</vt:lpwstr>
  </property>
</Properties>
</file>