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7"/>
  </p:notesMasterIdLst>
  <p:sldIdLst>
    <p:sldId id="256" r:id="rId3"/>
    <p:sldId id="257" r:id="rId4"/>
    <p:sldId id="258" r:id="rId5"/>
    <p:sldId id="282" r:id="rId6"/>
    <p:sldId id="260" r:id="rId7"/>
    <p:sldId id="259" r:id="rId8"/>
    <p:sldId id="268" r:id="rId9"/>
    <p:sldId id="261" r:id="rId10"/>
    <p:sldId id="262" r:id="rId11"/>
    <p:sldId id="264" r:id="rId12"/>
    <p:sldId id="265" r:id="rId13"/>
    <p:sldId id="266" r:id="rId14"/>
    <p:sldId id="267" r:id="rId15"/>
    <p:sldId id="270" r:id="rId16"/>
    <p:sldId id="271" r:id="rId17"/>
    <p:sldId id="269" r:id="rId18"/>
    <p:sldId id="272" r:id="rId19"/>
    <p:sldId id="275" r:id="rId20"/>
    <p:sldId id="274" r:id="rId21"/>
    <p:sldId id="273" r:id="rId22"/>
    <p:sldId id="276" r:id="rId23"/>
    <p:sldId id="277" r:id="rId24"/>
    <p:sldId id="281" r:id="rId25"/>
    <p:sldId id="283" r:id="rId26"/>
    <p:sldId id="279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7.xml"/><Relationship Id="rId26" Type="http://schemas.openxmlformats.org/officeDocument/2006/relationships/slide" Target="slides/slide24.xml"/><Relationship Id="rId18" Type="http://schemas.openxmlformats.org/officeDocument/2006/relationships/slide" Target="slides/slide16.xml"/><Relationship Id="rId13" Type="http://schemas.openxmlformats.org/officeDocument/2006/relationships/slide" Target="slides/slide11.xml"/><Relationship Id="rId50" Type="http://schemas.openxmlformats.org/officeDocument/2006/relationships/tableStyles" Target="tableStyles.xml"/><Relationship Id="rId47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34" Type="http://schemas.openxmlformats.org/officeDocument/2006/relationships/slide" Target="slides/slide32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29" Type="http://schemas.openxmlformats.org/officeDocument/2006/relationships/slide" Target="slides/slide27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45" Type="http://schemas.openxmlformats.org/officeDocument/2006/relationships/slide" Target="slides/slide43.xml"/><Relationship Id="rId40" Type="http://schemas.openxmlformats.org/officeDocument/2006/relationships/slide" Target="slides/slide38.xml"/><Relationship Id="rId37" Type="http://schemas.openxmlformats.org/officeDocument/2006/relationships/slide" Target="slides/slide35.xml"/><Relationship Id="rId32" Type="http://schemas.openxmlformats.org/officeDocument/2006/relationships/slide" Target="slides/slide30.xml"/><Relationship Id="rId24" Type="http://schemas.openxmlformats.org/officeDocument/2006/relationships/slide" Target="slides/slide22.xml"/><Relationship Id="rId11" Type="http://schemas.openxmlformats.org/officeDocument/2006/relationships/slide" Target="slides/slide9.xml"/><Relationship Id="rId53" Type="http://schemas.openxmlformats.org/officeDocument/2006/relationships/customXml" Target="../customXml/item3.xml"/><Relationship Id="rId5" Type="http://schemas.openxmlformats.org/officeDocument/2006/relationships/slide" Target="slides/slide3.xml"/><Relationship Id="rId44" Type="http://schemas.openxmlformats.org/officeDocument/2006/relationships/slide" Target="slides/slide42.xml"/><Relationship Id="rId31" Type="http://schemas.openxmlformats.org/officeDocument/2006/relationships/slide" Target="slides/slide29.xml"/><Relationship Id="rId19" Type="http://schemas.openxmlformats.org/officeDocument/2006/relationships/slide" Target="slides/slide17.xml"/><Relationship Id="rId10" Type="http://schemas.openxmlformats.org/officeDocument/2006/relationships/slide" Target="slides/slide8.xml"/><Relationship Id="rId52" Type="http://schemas.openxmlformats.org/officeDocument/2006/relationships/customXml" Target="../customXml/item2.xml"/><Relationship Id="rId9" Type="http://schemas.openxmlformats.org/officeDocument/2006/relationships/slide" Target="slides/slide7.xml"/><Relationship Id="rId48" Type="http://schemas.openxmlformats.org/officeDocument/2006/relationships/presProps" Target="presProps.xml"/><Relationship Id="rId43" Type="http://schemas.openxmlformats.org/officeDocument/2006/relationships/slide" Target="slides/slide41.xml"/><Relationship Id="rId4" Type="http://schemas.openxmlformats.org/officeDocument/2006/relationships/slide" Target="slides/slide2.xml"/><Relationship Id="rId35" Type="http://schemas.openxmlformats.org/officeDocument/2006/relationships/slide" Target="slides/slide33.xml"/><Relationship Id="rId30" Type="http://schemas.openxmlformats.org/officeDocument/2006/relationships/slide" Target="slides/slide28.xml"/><Relationship Id="rId27" Type="http://schemas.openxmlformats.org/officeDocument/2006/relationships/slide" Target="slides/slide25.xml"/><Relationship Id="rId22" Type="http://schemas.openxmlformats.org/officeDocument/2006/relationships/slide" Target="slides/slide20.xml"/><Relationship Id="rId14" Type="http://schemas.openxmlformats.org/officeDocument/2006/relationships/slide" Target="slides/slide12.xml"/><Relationship Id="rId8" Type="http://schemas.openxmlformats.org/officeDocument/2006/relationships/slide" Target="slides/slide6.xml"/><Relationship Id="rId51" Type="http://schemas.openxmlformats.org/officeDocument/2006/relationships/customXml" Target="../customXml/item1.xml"/><Relationship Id="rId3" Type="http://schemas.openxmlformats.org/officeDocument/2006/relationships/slide" Target="slides/slide1.xml"/><Relationship Id="rId46" Type="http://schemas.openxmlformats.org/officeDocument/2006/relationships/slide" Target="slides/slide44.xml"/><Relationship Id="rId38" Type="http://schemas.openxmlformats.org/officeDocument/2006/relationships/slide" Target="slides/slide36.xml"/><Relationship Id="rId33" Type="http://schemas.openxmlformats.org/officeDocument/2006/relationships/slide" Target="slides/slide31.xml"/><Relationship Id="rId25" Type="http://schemas.openxmlformats.org/officeDocument/2006/relationships/slide" Target="slides/slide23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41" Type="http://schemas.openxmlformats.org/officeDocument/2006/relationships/slide" Target="slides/slide39.xml"/><Relationship Id="rId20" Type="http://schemas.openxmlformats.org/officeDocument/2006/relationships/slide" Target="slides/slide18.xml"/><Relationship Id="rId6" Type="http://schemas.openxmlformats.org/officeDocument/2006/relationships/slide" Target="slides/slide4.xml"/><Relationship Id="rId1" Type="http://schemas.openxmlformats.org/officeDocument/2006/relationships/slideMaster" Target="slideMasters/slideMaster1.xml"/><Relationship Id="rId49" Type="http://schemas.openxmlformats.org/officeDocument/2006/relationships/viewProps" Target="viewProps.xml"/><Relationship Id="rId36" Type="http://schemas.openxmlformats.org/officeDocument/2006/relationships/slide" Target="slides/slide34.xml"/><Relationship Id="rId28" Type="http://schemas.openxmlformats.org/officeDocument/2006/relationships/slide" Target="slides/slide26.xml"/><Relationship Id="rId23" Type="http://schemas.openxmlformats.org/officeDocument/2006/relationships/slide" Target="slides/slide21.xml"/><Relationship Id="rId15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61466-D092-44BB-8E82-842F9FF17003}" type="datetimeFigureOut">
              <a:rPr lang="en-AU" smtClean="0"/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70D14-B9F6-4B82-AA1F-A99AD9CDFFF6}" type="slidenum">
              <a:rPr lang="en-AU" smtClean="0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5EB332-704B-426B-80FC-A32AF2B34428}" type="datetime1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733E41-DBDC-425C-A265-24612AC9BDDF}" type="slidenum">
              <a:rPr lang="en-AU" smtClean="0"/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3430-8083-49EE-90A2-9E22D690FC1B}" type="datetime1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FFCC8-434B-449D-867A-CB0DE7EB028F}" type="datetime1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2993C-8711-40D2-B15E-7BBE11D90641}" type="datetime1">
              <a:rPr lang="en-AU" smtClean="0"/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A6E8-9670-47B9-8327-E8985BEFB5A0}" type="datetime1">
              <a:rPr lang="en-AU" smtClean="0"/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9CDC-71C1-4F20-8DB7-1C54726B8526}" type="datetime1">
              <a:rPr lang="en-AU" smtClean="0"/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AF8D-6AC0-4295-A103-22715643A336}" type="datetime1">
              <a:rPr lang="en-AU" smtClean="0"/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D8DD-5993-46FE-8ED1-B96217348C74}" type="datetime1">
              <a:rPr lang="en-AU" smtClean="0"/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F248-6F4E-47E2-82DB-7A0351776B38}" type="datetime1">
              <a:rPr lang="en-AU" smtClean="0"/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25BD4-1D2D-4E50-86D3-14F76DFAC7A9}" type="datetime1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4C9-8A83-4920-8B06-5B4D89A1A312}" type="datetime1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EF5AFDBA-6FBB-43B7-BC81-9634810E1C00}" type="datetime1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4800" dirty="0"/>
              <a:t>Python basics</a:t>
            </a:r>
            <a:endParaRPr lang="en-AU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Programming in Python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98320"/>
            <a:ext cx="9872980" cy="4928870"/>
          </a:xfrm>
        </p:spPr>
        <p:txBody>
          <a:bodyPr>
            <a:normAutofit lnSpcReduction="20000"/>
          </a:bodyPr>
          <a:lstStyle/>
          <a:p>
            <a:pPr algn="just"/>
            <a:r>
              <a:rPr lang="en-AU" dirty="0"/>
              <a:t>Python Introduction</a:t>
            </a:r>
            <a:endParaRPr lang="en-AU" dirty="0"/>
          </a:p>
          <a:p>
            <a:pPr algn="just"/>
            <a:r>
              <a:rPr lang="en-AU" dirty="0"/>
              <a:t>Why Python</a:t>
            </a:r>
            <a:endParaRPr lang="en-AU" dirty="0"/>
          </a:p>
          <a:p>
            <a:pPr algn="just"/>
            <a:r>
              <a:rPr lang="en-AU" dirty="0"/>
              <a:t>Getting Started</a:t>
            </a:r>
            <a:endParaRPr lang="en-AU" dirty="0"/>
          </a:p>
          <a:p>
            <a:pPr algn="just"/>
            <a:r>
              <a:rPr lang="en-AU" dirty="0"/>
              <a:t>Code Writing Options</a:t>
            </a:r>
            <a:endParaRPr lang="en-AU" dirty="0"/>
          </a:p>
          <a:p>
            <a:pPr algn="just"/>
            <a:r>
              <a:rPr lang="en-AU" dirty="0"/>
              <a:t>Python Indentation</a:t>
            </a:r>
            <a:endParaRPr lang="en-AU" dirty="0"/>
          </a:p>
          <a:p>
            <a:pPr algn="just"/>
            <a:r>
              <a:rPr lang="en-AU" dirty="0"/>
              <a:t>Comments</a:t>
            </a:r>
            <a:endParaRPr lang="en-AU" dirty="0"/>
          </a:p>
          <a:p>
            <a:pPr algn="just"/>
            <a:r>
              <a:rPr lang="en-AU" dirty="0"/>
              <a:t>Variables</a:t>
            </a:r>
            <a:endParaRPr lang="en-AU" dirty="0"/>
          </a:p>
          <a:p>
            <a:pPr algn="just"/>
            <a:r>
              <a:rPr lang="en-AU" dirty="0"/>
              <a:t>Output Values</a:t>
            </a:r>
            <a:endParaRPr lang="en-AU" dirty="0"/>
          </a:p>
          <a:p>
            <a:pPr algn="just"/>
            <a:r>
              <a:rPr lang="en-AU" dirty="0"/>
              <a:t>Data types</a:t>
            </a:r>
            <a:endParaRPr lang="en-AU" dirty="0"/>
          </a:p>
          <a:p>
            <a:pPr algn="just"/>
            <a:r>
              <a:rPr lang="en-AU" dirty="0"/>
              <a:t>User Input</a:t>
            </a:r>
            <a:endParaRPr lang="en-AU" dirty="0"/>
          </a:p>
          <a:p>
            <a:pPr algn="just"/>
            <a:r>
              <a:rPr lang="en-US" altLang="en-AU" dirty="0"/>
              <a:t>Conditional Flow (If-else)</a:t>
            </a:r>
            <a:endParaRPr lang="en-US" alt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Python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Python works on different platforms (Windows, Mac, Linux, Raspberry Pi, </a:t>
            </a:r>
            <a:r>
              <a:rPr lang="en-US" dirty="0" err="1"/>
              <a:t>etc</a:t>
            </a:r>
            <a:r>
              <a:rPr lang="en-US" dirty="0"/>
              <a:t>).</a:t>
            </a:r>
            <a:endParaRPr lang="en-US" dirty="0"/>
          </a:p>
          <a:p>
            <a:pPr algn="just"/>
            <a:r>
              <a:rPr lang="en-US" dirty="0"/>
              <a:t>Python has a simple syntax similar to the English language.</a:t>
            </a:r>
            <a:endParaRPr lang="en-US" dirty="0"/>
          </a:p>
          <a:p>
            <a:pPr algn="just"/>
            <a:r>
              <a:rPr lang="en-US" dirty="0"/>
              <a:t>Python has syntax that allows developers to write programs with fewer lines than some other programming languages.</a:t>
            </a:r>
            <a:endParaRPr lang="en-US" dirty="0"/>
          </a:p>
          <a:p>
            <a:pPr algn="just"/>
            <a:r>
              <a:rPr lang="en-US" dirty="0"/>
              <a:t>Python runs on an interpreter system, meaning that code can be executed as soon as it is written. This means that prototyping can be very quick.</a:t>
            </a:r>
            <a:endParaRPr lang="en-US" dirty="0"/>
          </a:p>
          <a:p>
            <a:pPr algn="just"/>
            <a:r>
              <a:rPr lang="en-US" dirty="0"/>
              <a:t>Python can be treated in a procedural way, an object-oriented way or a functional way.</a:t>
            </a:r>
            <a:endParaRPr lang="en-US" dirty="0"/>
          </a:p>
          <a:p>
            <a:pPr algn="just"/>
            <a:r>
              <a:rPr lang="en-AU" dirty="0"/>
              <a:t>Python is a dynamic programming language.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62280"/>
            <a:ext cx="9875520" cy="1356360"/>
          </a:xfrm>
        </p:spPr>
        <p:txBody>
          <a:bodyPr/>
          <a:lstStyle/>
          <a:p>
            <a:r>
              <a:rPr lang="en-US" altLang="en-AU" dirty="0"/>
              <a:t>Why </a:t>
            </a:r>
            <a:r>
              <a:rPr lang="en-AU" dirty="0"/>
              <a:t>Python</a:t>
            </a:r>
            <a:r>
              <a:rPr lang="en-US" altLang="en-AU" dirty="0"/>
              <a:t> in 2026</a:t>
            </a:r>
            <a:endParaRPr lang="en-US" alt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125" y="1605280"/>
            <a:ext cx="10415270" cy="4882515"/>
          </a:xfrm>
        </p:spPr>
        <p:txBody>
          <a:bodyPr>
            <a:noAutofit/>
          </a:bodyPr>
          <a:lstStyle/>
          <a:p>
            <a:pPr algn="just"/>
            <a:r>
              <a:rPr lang="en-US" altLang="en-US" sz="2000" dirty="0"/>
              <a:t>One of the most widely used and versatile programming languages.</a:t>
            </a:r>
            <a:endParaRPr lang="en-US" altLang="en-US" sz="2000" dirty="0"/>
          </a:p>
          <a:p>
            <a:pPr algn="just"/>
            <a:r>
              <a:rPr lang="en-US" altLang="en-US" sz="2000" dirty="0"/>
              <a:t>Build web applications, APIs, and backend services.</a:t>
            </a:r>
            <a:endParaRPr lang="en-US" altLang="en-US" sz="2000" dirty="0"/>
          </a:p>
          <a:p>
            <a:pPr algn="just"/>
            <a:r>
              <a:rPr lang="en-US" altLang="en-US" sz="2000" dirty="0"/>
              <a:t>Develop software, automate workflows, and integrate different systems.</a:t>
            </a:r>
            <a:endParaRPr lang="en-US" altLang="en-US" sz="2000" dirty="0"/>
          </a:p>
          <a:p>
            <a:pPr algn="just"/>
            <a:r>
              <a:rPr lang="en-US" altLang="en-US" sz="2000" dirty="0"/>
              <a:t>Connect to databases and efficiently perform data operations.</a:t>
            </a:r>
            <a:endParaRPr lang="en-US" altLang="en-US" sz="2000" dirty="0"/>
          </a:p>
          <a:p>
            <a:pPr algn="just"/>
            <a:r>
              <a:rPr lang="en-US" altLang="en-US" sz="2000" dirty="0"/>
              <a:t>Analyze, visualize, and process large amounts of data.</a:t>
            </a:r>
            <a:endParaRPr lang="en-US" altLang="en-US" sz="2000" dirty="0"/>
          </a:p>
          <a:p>
            <a:pPr algn="just"/>
            <a:r>
              <a:rPr lang="en-US" altLang="en-US" sz="2000" dirty="0"/>
              <a:t>Power Artificial Intelligence, Machine Learning, and Generative AI.</a:t>
            </a:r>
            <a:endParaRPr lang="en-US" altLang="en-US" sz="2000" dirty="0"/>
          </a:p>
          <a:p>
            <a:pPr algn="just"/>
            <a:r>
              <a:rPr lang="en-US" altLang="en-US" sz="2000" dirty="0"/>
              <a:t>Support scientific computing, complex mathematics, and rapid prototyping.</a:t>
            </a:r>
            <a:endParaRPr lang="en-US" altLang="en-US" sz="2000" dirty="0"/>
          </a:p>
          <a:p>
            <a:pPr algn="just"/>
            <a:r>
              <a:rPr lang="en-US" altLang="en-US" sz="2000" dirty="0"/>
              <a:t>Automate repetitive tasks through scripting and system-level workflows.</a:t>
            </a:r>
            <a:endParaRPr lang="en-US" altLang="en-US" sz="2000" dirty="0"/>
          </a:p>
          <a:p>
            <a:pPr algn="just"/>
            <a:r>
              <a:rPr lang="en-US" altLang="en-US" sz="2000" dirty="0"/>
              <a:t>Rich ecosystem of libraries for AI, data science, cybersecurity, and cloud computing.</a:t>
            </a:r>
            <a:endParaRPr lang="en-US" altLang="en-US" sz="2000" dirty="0"/>
          </a:p>
          <a:p>
            <a:pPr algn="just"/>
            <a:r>
              <a:rPr lang="en-US" altLang="en-US" sz="2000" dirty="0"/>
              <a:t>Valuable across diverse and growing technology careers.</a:t>
            </a:r>
            <a:endParaRPr lang="en-US" altLang="en-US" sz="2000" dirty="0"/>
          </a:p>
          <a:p>
            <a:pPr algn="just"/>
            <a:r>
              <a:rPr lang="en-US" altLang="en-US" sz="2000" dirty="0"/>
              <a:t>Simple to learn, yet powerful enough for professional development.</a:t>
            </a:r>
            <a:endParaRPr lang="en-US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Getting Started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Python Install (https://www.python.org/downloads/)</a:t>
            </a:r>
            <a:endParaRPr lang="en-AU" dirty="0"/>
          </a:p>
          <a:p>
            <a:r>
              <a:rPr lang="en-AU" dirty="0"/>
              <a:t>Use IDLE (Command Line, Python File)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301569" y="3267587"/>
            <a:ext cx="7710351" cy="5515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C:\Users\</a:t>
            </a:r>
            <a:r>
              <a:rPr lang="en-US" sz="2000" b="0" i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Your Name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&gt;python helloworld.py</a:t>
            </a:r>
            <a:endParaRPr lang="en-AU" sz="2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01569" y="4112627"/>
            <a:ext cx="7710351" cy="21357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C:\Users\Your Name&gt;python</a:t>
            </a:r>
            <a:endParaRPr lang="en-US" sz="20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Python 3.6.4 (v3.6.4:d48eceb, Dec 19 2017, 06:04:45) [MSC v.1900 32 bit (Intel)] on win32</a:t>
            </a:r>
            <a:endParaRPr lang="en-US" sz="20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Type "help", "copyright", "credits" or "license" for more information.</a:t>
            </a:r>
            <a:endParaRPr lang="en-US" sz="20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&gt;&gt;&gt; print("Hello, World!")</a:t>
            </a:r>
            <a:endParaRPr lang="en-AU" sz="2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9386280" y="3086156"/>
            <a:ext cx="229616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Using Windows command line</a:t>
            </a:r>
            <a:endParaRPr lang="en-AU" dirty="0"/>
          </a:p>
        </p:txBody>
      </p:sp>
      <p:sp>
        <p:nvSpPr>
          <p:cNvPr id="9" name="Rectangle 8"/>
          <p:cNvSpPr/>
          <p:nvPr/>
        </p:nvSpPr>
        <p:spPr>
          <a:xfrm>
            <a:off x="9386280" y="4723313"/>
            <a:ext cx="229616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Using Python command line</a:t>
            </a:r>
            <a:endParaRPr lang="en-AU" dirty="0"/>
          </a:p>
        </p:txBody>
      </p:sp>
      <p:sp>
        <p:nvSpPr>
          <p:cNvPr id="10" name="Arrow: Left 9"/>
          <p:cNvSpPr/>
          <p:nvPr/>
        </p:nvSpPr>
        <p:spPr>
          <a:xfrm>
            <a:off x="8870769" y="3301040"/>
            <a:ext cx="599440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Arrow: Left 10"/>
          <p:cNvSpPr/>
          <p:nvPr/>
        </p:nvSpPr>
        <p:spPr>
          <a:xfrm>
            <a:off x="8864782" y="4938197"/>
            <a:ext cx="599440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Writing Options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Programiz</a:t>
            </a:r>
            <a:r>
              <a:rPr lang="en-AU" dirty="0"/>
              <a:t> - https://www.programiz.com/python-programming/online-compiler/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214" y="2785517"/>
            <a:ext cx="7565571" cy="37610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Writing Options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PyCharm - https://www.jetbrains.com/pycharm/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0945" y="2576004"/>
            <a:ext cx="6736979" cy="3926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Writing Options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Spyder - https://www.spyder-ide.org/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800" y="2494473"/>
            <a:ext cx="65024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Writing Options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67840"/>
            <a:ext cx="9872871" cy="4328160"/>
          </a:xfrm>
        </p:spPr>
        <p:txBody>
          <a:bodyPr/>
          <a:lstStyle/>
          <a:p>
            <a:r>
              <a:rPr lang="en-AU" dirty="0"/>
              <a:t>Visual Studio Code - https://code.visualstudio.com/docs/languages/python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507419"/>
            <a:ext cx="5211090" cy="40815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Writing Options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Google </a:t>
            </a:r>
            <a:r>
              <a:rPr lang="en-AU" dirty="0" err="1"/>
              <a:t>Colab</a:t>
            </a:r>
            <a:r>
              <a:rPr lang="en-AU" dirty="0"/>
              <a:t> - https://colab.research.google.com/</a:t>
            </a:r>
            <a:endParaRPr lang="en-AU" dirty="0"/>
          </a:p>
          <a:p>
            <a:r>
              <a:rPr lang="en-AU" dirty="0"/>
              <a:t>https://edulabs.co.il/p6-Google-Colab-a-must-have-tool-for-Developer-and-Data-Scientist.html</a:t>
            </a:r>
            <a:endParaRPr lang="en-AU" dirty="0"/>
          </a:p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881" y="3352800"/>
            <a:ext cx="8238237" cy="31599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Code Writing Options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Jupyter</a:t>
            </a:r>
            <a:r>
              <a:rPr lang="en-AU" dirty="0"/>
              <a:t> Notebook - https://colab.research.google.com/</a:t>
            </a:r>
            <a:endParaRPr lang="en-AU" dirty="0"/>
          </a:p>
          <a:p>
            <a:r>
              <a:rPr lang="en-AU" dirty="0"/>
              <a:t>https://realpython.com/jupyter-notebook-introduction/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388" y="3429000"/>
            <a:ext cx="9016093" cy="22695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Python Indentation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Indentation refers to the spaces at the beginning of a code line.</a:t>
            </a:r>
            <a:endParaRPr lang="en-US" dirty="0"/>
          </a:p>
          <a:p>
            <a:pPr algn="just"/>
            <a:r>
              <a:rPr lang="en-US" dirty="0"/>
              <a:t>Python uses indentation to indicate a block of code.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2149692" y="3429000"/>
            <a:ext cx="7859486" cy="22206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 5 &gt; 2:</a:t>
            </a:r>
            <a:b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</a:b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 print("Five is greater than two!") 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b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</a:b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 5 &gt; 2:</a:t>
            </a:r>
            <a:b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</a:b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        print("Five is greater than two!") 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Comments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Comments starts with a “#”, and Python will ignore them.</a:t>
            </a:r>
            <a:endParaRPr lang="en-US" dirty="0"/>
          </a:p>
          <a:p>
            <a:pPr algn="just"/>
            <a:r>
              <a:rPr lang="en-US" dirty="0"/>
              <a:t>Comments can be placed at the end of a line, and Python will ignore the rest of the line.</a:t>
            </a:r>
            <a:endParaRPr lang="en-US" dirty="0"/>
          </a:p>
          <a:p>
            <a:pPr algn="just"/>
            <a:r>
              <a:rPr lang="en-US" dirty="0"/>
              <a:t>Since Python will ignore string literals that are not assigned to a variable, we can add a multiline string (triple quotes) in our code, and place our comment inside it.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496549" y="4310743"/>
            <a:ext cx="9165772" cy="22782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"""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This is a comment written in more than just one line. 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Double or single quotation can be used.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"""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print("Hello, World!") # at the end of a line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# end of program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Variables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Variables are containers for storing data values.</a:t>
            </a:r>
            <a:endParaRPr lang="en-US" dirty="0"/>
          </a:p>
          <a:p>
            <a:pPr algn="just"/>
            <a:r>
              <a:rPr lang="en-US" dirty="0"/>
              <a:t>Python has no command for declaring a variable.</a:t>
            </a:r>
            <a:endParaRPr lang="en-US" dirty="0"/>
          </a:p>
          <a:p>
            <a:pPr algn="just"/>
            <a:r>
              <a:rPr lang="en-US" dirty="0"/>
              <a:t>A variable is created the moment you first assign a value to it.</a:t>
            </a:r>
            <a:endParaRPr lang="en-US" dirty="0"/>
          </a:p>
          <a:p>
            <a:pPr algn="just"/>
            <a:r>
              <a:rPr lang="en-US" dirty="0"/>
              <a:t>Variables do not need to be declared with any particular type, and can even change type after they have been set.</a:t>
            </a:r>
            <a:endParaRPr lang="en-US" dirty="0"/>
          </a:p>
          <a:p>
            <a:pPr algn="just"/>
            <a:r>
              <a:rPr lang="en-US" dirty="0"/>
              <a:t>If you want to specify the data type of a variable, this can be done with casting.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313712" y="3483424"/>
            <a:ext cx="5377428" cy="27923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str(3)    # x will be '3'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y = int(3)    # y will be 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z = float(3)  # z will be 3.0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print(type(x))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print(type(y))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AU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Print(type(z))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Variables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581676" y="1801440"/>
            <a:ext cx="5601410" cy="14316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y = "John"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print(y)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13712" y="1801440"/>
            <a:ext cx="5377427" cy="14316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4       # x is of type int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"Sally" # x is of type str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1677" y="3483424"/>
            <a:ext cx="5601410" cy="279233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"John"	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# is the same as 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'John'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# Var. names are case-sensitive.</a:t>
            </a:r>
            <a:endParaRPr lang="en-U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= 4</a:t>
            </a:r>
            <a:endParaRPr lang="en-U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= "Sally"</a:t>
            </a:r>
            <a:endParaRPr lang="en-U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#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'</a:t>
            </a:r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'</a:t>
            </a:r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will not overwrite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'</a:t>
            </a:r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'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Variable Names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Rules for Python variables:</a:t>
            </a:r>
            <a:endParaRPr lang="en-US" dirty="0"/>
          </a:p>
          <a:p>
            <a:pPr lvl="1" algn="just">
              <a:spcBef>
                <a:spcPts val="1200"/>
              </a:spcBef>
              <a:spcAft>
                <a:spcPts val="0"/>
              </a:spcAft>
            </a:pPr>
            <a:r>
              <a:rPr lang="en-US" sz="2200" dirty="0"/>
              <a:t>A variable name must start with a letter or the underscore character</a:t>
            </a:r>
            <a:endParaRPr lang="en-US" sz="2200" dirty="0"/>
          </a:p>
          <a:p>
            <a:pPr lvl="1" algn="just">
              <a:spcBef>
                <a:spcPts val="1200"/>
              </a:spcBef>
              <a:spcAft>
                <a:spcPts val="0"/>
              </a:spcAft>
            </a:pPr>
            <a:r>
              <a:rPr lang="en-US" sz="2200" dirty="0"/>
              <a:t>A variable name cannot start with a number</a:t>
            </a:r>
            <a:endParaRPr lang="en-US" sz="2200" dirty="0"/>
          </a:p>
          <a:p>
            <a:pPr lvl="1" algn="just">
              <a:spcBef>
                <a:spcPts val="1200"/>
              </a:spcBef>
              <a:spcAft>
                <a:spcPts val="0"/>
              </a:spcAft>
            </a:pPr>
            <a:r>
              <a:rPr lang="en-US" sz="2200" dirty="0"/>
              <a:t>A variable name can only contain alpha-numeric characters and underscores (A-z, 0-9, and _ )</a:t>
            </a:r>
            <a:endParaRPr lang="en-US" sz="2200" dirty="0"/>
          </a:p>
          <a:p>
            <a:pPr lvl="1" algn="just">
              <a:spcBef>
                <a:spcPts val="1200"/>
              </a:spcBef>
              <a:spcAft>
                <a:spcPts val="0"/>
              </a:spcAft>
            </a:pPr>
            <a:r>
              <a:rPr lang="en-US" sz="2200" dirty="0"/>
              <a:t>Variable names are case-sensitive (age, Age and AGE are three different variables)</a:t>
            </a:r>
            <a:endParaRPr lang="en-US" sz="2200" dirty="0"/>
          </a:p>
          <a:p>
            <a:pPr lvl="1" algn="just">
              <a:spcBef>
                <a:spcPts val="1200"/>
              </a:spcBef>
              <a:spcAft>
                <a:spcPts val="0"/>
              </a:spcAft>
            </a:pPr>
            <a:r>
              <a:rPr lang="en-US" sz="2200" dirty="0"/>
              <a:t>A variable name cannot be any of the Python keywords.</a:t>
            </a:r>
            <a:endParaRPr lang="en-AU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Variable Names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AU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143000" y="2057400"/>
            <a:ext cx="4874905" cy="22497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myvar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"John"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my_var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"John"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_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my_var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"John"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myVar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"John"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MYVAR = "John"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myvar2 = "John"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60097" y="2057400"/>
            <a:ext cx="4874905" cy="22497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2myvar = "John"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my-var = "John"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 var = "John"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28157" y="4586464"/>
            <a:ext cx="7935686" cy="174902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# Multi Words Variable Names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myVariableName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"John" 		# Camel Case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MyVariableName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"John"		# Pascal Case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my_variable_name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= "John"	# Snake Case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Output Variables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Python </a:t>
            </a:r>
            <a:r>
              <a:rPr lang="en-US" dirty="0">
                <a:latin typeface="Courier New" panose="02070609020205020404" pitchFamily="49" charset="0"/>
                <a:cs typeface="Courier New" panose="02070609020205020404" pitchFamily="49" charset="0"/>
              </a:rPr>
              <a:t>print()</a:t>
            </a:r>
            <a:r>
              <a:rPr lang="en-US" dirty="0"/>
              <a:t> function is often used to output variables.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128157" y="2550353"/>
            <a:ext cx="7935686" cy="4038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"Python is awesome"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"Python"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y = "is"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z = "awesome"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print(x, y, z)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"Python 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y = "is 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z = "awesome"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 + y + z)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Output Variables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111592" y="2093788"/>
            <a:ext cx="7935686" cy="4038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5</a:t>
            </a:r>
            <a:endParaRPr lang="es-E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s-E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y = 10</a:t>
            </a:r>
            <a:endParaRPr lang="es-E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s-E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</a:t>
            </a:r>
            <a:r>
              <a:rPr lang="es-E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(x + y)</a:t>
            </a:r>
            <a:endParaRPr lang="es-E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s-E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s-ES" sz="2200" b="0" i="0" dirty="0">
                <a:solidFill>
                  <a:srgbClr val="FF0000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5</a:t>
            </a:r>
            <a:endParaRPr lang="es-ES" sz="2200" b="0" i="0" dirty="0">
              <a:solidFill>
                <a:srgbClr val="FF0000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s-ES" sz="2200" b="0" i="0" dirty="0">
                <a:solidFill>
                  <a:srgbClr val="FF0000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y = "John"</a:t>
            </a:r>
            <a:endParaRPr lang="es-ES" sz="2200" b="0" i="0" dirty="0">
              <a:solidFill>
                <a:srgbClr val="FF0000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s-ES" sz="2200" b="0" i="0" dirty="0" err="1">
                <a:solidFill>
                  <a:srgbClr val="FF0000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</a:t>
            </a:r>
            <a:r>
              <a:rPr lang="es-ES" sz="2200" b="0" i="0" dirty="0">
                <a:solidFill>
                  <a:srgbClr val="FF0000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(x + y)</a:t>
            </a:r>
            <a:endParaRPr lang="es-ES" sz="2200" b="0" i="0" dirty="0">
              <a:solidFill>
                <a:srgbClr val="FF0000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s-ES" sz="2200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s-E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5</a:t>
            </a:r>
            <a:endParaRPr lang="es-E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s-E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y = "John"</a:t>
            </a:r>
            <a:endParaRPr lang="es-E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s-E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</a:t>
            </a:r>
            <a:r>
              <a:rPr lang="es-E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(x, y)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Variables - Assign Multiple Values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143000" y="1869247"/>
            <a:ext cx="7663780" cy="437915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# Many Values to Multiple Variables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x, y, z = "Orange", "Banana", "Cherry"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print(x, y, z)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# One Value to Multiple Variables</a:t>
            </a:r>
            <a:endParaRPr lang="en-US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r-F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y = z = "Orange"</a:t>
            </a:r>
            <a:endParaRPr lang="fr-F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r-FR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</a:t>
            </a:r>
            <a:r>
              <a:rPr lang="fr-F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(x, y, z)</a:t>
            </a:r>
            <a:endParaRPr lang="fr-F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fr-FR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r-F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# </a:t>
            </a:r>
            <a:r>
              <a:rPr lang="fr-FR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Unpack</a:t>
            </a:r>
            <a:r>
              <a:rPr lang="fr-F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Collection</a:t>
            </a:r>
            <a:endParaRPr lang="fr-F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r-F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fruits = ["</a:t>
            </a:r>
            <a:r>
              <a:rPr lang="fr-FR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apple</a:t>
            </a:r>
            <a:r>
              <a:rPr lang="fr-F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", "banana", "cherry"]</a:t>
            </a:r>
            <a:endParaRPr lang="fr-F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r-F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x, y, z = fruits</a:t>
            </a:r>
            <a:endParaRPr lang="fr-F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r-FR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</a:t>
            </a:r>
            <a:r>
              <a:rPr lang="fr-FR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(x, y, z)</a:t>
            </a:r>
            <a:endParaRPr lang="fr-FR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51897" y="1701609"/>
            <a:ext cx="3918857" cy="12701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</a:rPr>
              <a:t>Make sure the number of variables matches the number of values, or else you will get an error.</a:t>
            </a:r>
            <a:endParaRPr lang="en-AU" sz="20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7217229" y="2231571"/>
            <a:ext cx="73466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951896" y="4475429"/>
            <a:ext cx="3918857" cy="16205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</a:rPr>
              <a:t>If we have a collection of values in a list, tuple etc. Python allows you to extract the values into variables. This is called unpacking.</a:t>
            </a:r>
            <a:endParaRPr lang="en-AU" sz="2000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4811486" y="4898571"/>
            <a:ext cx="314041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Global Variables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Variables that are created outside of a function (as in all of the examples so far) are known as global variables.</a:t>
            </a:r>
            <a:endParaRPr lang="en-US" dirty="0"/>
          </a:p>
          <a:p>
            <a:pPr algn="just"/>
            <a:r>
              <a:rPr lang="en-US" dirty="0"/>
              <a:t>Global variables can be used by everyone, both inside of functions and outside.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2928257" y="3814354"/>
            <a:ext cx="6335486" cy="23730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"awesome"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myfunc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print("Python is " + x)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myfunc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Global Variables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143000" y="2093788"/>
            <a:ext cx="5072743" cy="40022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"awesome"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myfunc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x = "fantastic"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print("Python is " + x)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myfunc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print("Python is " + x)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5857" y="2093788"/>
            <a:ext cx="5072744" cy="40022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# Without this line 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#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the output is same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"awesome"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def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myfunc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global x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x = "fantastic"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myfunc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()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print("Python is " + x)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Types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2294" y="1784421"/>
            <a:ext cx="6194282" cy="458455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Types</a:t>
            </a:r>
            <a:endParaRPr lang="en-AU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507274" y="2234590"/>
          <a:ext cx="11146972" cy="3720607"/>
        </p:xfrm>
        <a:graphic>
          <a:graphicData uri="http://schemas.openxmlformats.org/drawingml/2006/table">
            <a:tbl>
              <a:tblPr/>
              <a:tblGrid>
                <a:gridCol w="4408715"/>
                <a:gridCol w="4956421"/>
                <a:gridCol w="1781836"/>
              </a:tblGrid>
              <a:tr h="236363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Example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Example (Specifying the data type)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Data Type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363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x = "Hello World"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str("Hello World")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str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236363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x = 20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int(20)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int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363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20.5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float(20.5)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float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236363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x = 1j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complex(1j)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complex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795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x = ["apple", "banana", "cherry"]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list(("apple", "banana", "cherry"))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list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435795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x = ("apple", "banana", "cherry")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tuple(("apple", "banana", "cherry"))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tuple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079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+mn-lt"/>
                        </a:rPr>
                        <a:t>x = {"name" : "John", "age" : 36}</a:t>
                      </a:r>
                      <a:endParaRPr lang="en-US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+mn-lt"/>
                        </a:rPr>
                        <a:t>x =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dict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(name="John", age=36)</a:t>
                      </a:r>
                      <a:endParaRPr lang="en-US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 err="1">
                          <a:effectLst/>
                          <a:latin typeface="+mn-lt"/>
                        </a:rPr>
                        <a:t>dict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795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x = {"apple", "banana", "cherry"}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set("apple", "banana", "cherry"))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>
                          <a:effectLst/>
                          <a:latin typeface="+mn-lt"/>
                        </a:rPr>
                        <a:t>set</a:t>
                      </a:r>
                      <a:endParaRPr lang="en-AU" sz="200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36648"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True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x = bool(5)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39947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2000" dirty="0">
                          <a:effectLst/>
                          <a:latin typeface="+mn-lt"/>
                        </a:rPr>
                        <a:t>bool</a:t>
                      </a:r>
                      <a:endParaRPr lang="en-AU" sz="2000" dirty="0">
                        <a:effectLst/>
                        <a:latin typeface="+mn-lt"/>
                      </a:endParaRPr>
                    </a:p>
                  </a:txBody>
                  <a:tcPr marL="19973" marR="19973" marT="19973" marB="1997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7561218" y="915488"/>
            <a:ext cx="4093028" cy="105047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b-NO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5</a:t>
            </a:r>
            <a:endParaRPr lang="nb-NO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nb-NO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print(type(x))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User Input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uses the </a:t>
            </a:r>
            <a:r>
              <a:rPr lang="en-US" dirty="0">
                <a:latin typeface="Courier New" panose="02070609020205020404" pitchFamily="49" charset="0"/>
                <a:cs typeface="Courier New" panose="02070609020205020404" pitchFamily="49" charset="0"/>
              </a:rPr>
              <a:t>input()</a:t>
            </a:r>
            <a:r>
              <a:rPr lang="en-US" dirty="0"/>
              <a:t> method to ask for a user input.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latin typeface="Courier New" panose="02070609020205020404" pitchFamily="49" charset="0"/>
                <a:cs typeface="Courier New" panose="02070609020205020404" pitchFamily="49" charset="0"/>
              </a:rPr>
              <a:t>input() </a:t>
            </a:r>
            <a:r>
              <a:rPr lang="en-US" dirty="0"/>
              <a:t>function returns the input value as a string.</a:t>
            </a:r>
            <a:endParaRPr lang="en-US" dirty="0"/>
          </a:p>
          <a:p>
            <a:r>
              <a:rPr lang="en-US" dirty="0"/>
              <a:t>Optionally, we can show a message to the user while asking for an input.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3E41-DBDC-425C-A265-24612AC9BDDF}" type="slidenum">
              <a:rPr lang="en-AU" smtClean="0"/>
            </a:fld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2489989" y="3875314"/>
            <a:ext cx="7212022" cy="17678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username = input("Enter username:")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print("Username is: " + username)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print(type(username))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943336"/>
            <a:ext cx="9966960" cy="2926080"/>
          </a:xfrm>
        </p:spPr>
        <p:txBody>
          <a:bodyPr>
            <a:normAutofit/>
          </a:bodyPr>
          <a:lstStyle/>
          <a:p>
            <a:r>
              <a:rPr lang="en-US" sz="4800" dirty="0"/>
              <a:t>Python if…else</a:t>
            </a:r>
            <a:endParaRPr lang="en-US" sz="4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... 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supports the usual logical conditions from mathematics:</a:t>
            </a:r>
            <a:endParaRPr lang="en-US" dirty="0"/>
          </a:p>
          <a:p>
            <a:pPr lvl="1">
              <a:spcBef>
                <a:spcPts val="1200"/>
              </a:spcBef>
            </a:pPr>
            <a:r>
              <a:rPr lang="en-US" sz="2200" dirty="0"/>
              <a:t>Equals: 			a == b</a:t>
            </a:r>
            <a:endParaRPr lang="en-US" sz="2200" dirty="0"/>
          </a:p>
          <a:p>
            <a:pPr lvl="1"/>
            <a:r>
              <a:rPr lang="en-US" sz="2200" dirty="0"/>
              <a:t>Not Equals: 		a != b</a:t>
            </a:r>
            <a:endParaRPr lang="en-US" sz="2200" dirty="0"/>
          </a:p>
          <a:p>
            <a:pPr lvl="1"/>
            <a:r>
              <a:rPr lang="en-US" sz="2200" dirty="0"/>
              <a:t>Less than: 			a &lt; b</a:t>
            </a:r>
            <a:endParaRPr lang="en-US" sz="2200" dirty="0"/>
          </a:p>
          <a:p>
            <a:pPr lvl="1"/>
            <a:r>
              <a:rPr lang="en-US" sz="2200" dirty="0"/>
              <a:t>Less than or equal: 	a &lt;= b</a:t>
            </a:r>
            <a:endParaRPr lang="en-US" sz="2200" dirty="0"/>
          </a:p>
          <a:p>
            <a:pPr lvl="1"/>
            <a:r>
              <a:rPr lang="en-US" sz="2200" dirty="0"/>
              <a:t>Greater than: 		a &gt; b</a:t>
            </a:r>
            <a:endParaRPr lang="en-US" sz="2200" dirty="0"/>
          </a:p>
          <a:p>
            <a:pPr lvl="1"/>
            <a:r>
              <a:rPr lang="en-US" sz="2200" dirty="0"/>
              <a:t>Greater than or equal: 	a &gt;= b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...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68777" y="2050763"/>
            <a:ext cx="5454445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...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68777" y="2050763"/>
            <a:ext cx="5454445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099" y="1698093"/>
            <a:ext cx="391690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is greater than a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...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68777" y="2050763"/>
            <a:ext cx="5454445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2212" y="4195179"/>
            <a:ext cx="5454445" cy="19074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print("b is greater than a")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099" y="1698093"/>
            <a:ext cx="391690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is greater than a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Else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85382" y="5094957"/>
            <a:ext cx="5421235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85382" y="2066005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is greater than b")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Else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47978" y="2057399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elif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== b: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and b are equal")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is greater than b")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47978" y="5086351"/>
            <a:ext cx="5421235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437" y="2057398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elif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== b: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and b are equal")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0437" y="5086351"/>
            <a:ext cx="5421235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and b are equal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  <p:bldP spid="4" grpId="0" bldLvl="0" animBg="1"/>
      <p:bldP spid="4" grpId="1" animBg="1"/>
      <p:bldP spid="6" grpId="0" bldLvl="0" animBg="1"/>
      <p:bldP spid="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Hand If, If … Else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0437" y="1736643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b: print("a is greater than 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49503" y="1931721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Arrow: Right 9"/>
          <p:cNvSpPr/>
          <p:nvPr/>
        </p:nvSpPr>
        <p:spPr>
          <a:xfrm>
            <a:off x="6752248" y="2197631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Hand If, If …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60436" y="3436374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print("A") if a &gt; b else print("B")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49503" y="3600244"/>
            <a:ext cx="2031534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alt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</a:t>
            </a:r>
            <a:endParaRPr lang="en-US" alt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0437" y="1736643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b: print("a is greater than 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49503" y="1931721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Arrow: Right 9"/>
          <p:cNvSpPr/>
          <p:nvPr/>
        </p:nvSpPr>
        <p:spPr>
          <a:xfrm>
            <a:off x="6752248" y="2197631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/>
          <p:cNvSpPr/>
          <p:nvPr/>
        </p:nvSpPr>
        <p:spPr>
          <a:xfrm>
            <a:off x="6755292" y="3893390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Hand If, If …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60436" y="3436374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print("A") if a &gt; b else print("B")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49503" y="3600244"/>
            <a:ext cx="2031534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0437" y="1736643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b: print("a is greater than 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49503" y="1931721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437" y="5128161"/>
            <a:ext cx="11071126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print("A") if a &gt; b else print("=") if a == b else print("B")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14271" y="3634853"/>
            <a:ext cx="1917292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=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Arrow: Right 9"/>
          <p:cNvSpPr/>
          <p:nvPr/>
        </p:nvSpPr>
        <p:spPr>
          <a:xfrm>
            <a:off x="6752248" y="2197631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/>
          <p:cNvSpPr/>
          <p:nvPr/>
        </p:nvSpPr>
        <p:spPr>
          <a:xfrm>
            <a:off x="6755292" y="3893390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/>
          <p:cNvSpPr/>
          <p:nvPr/>
        </p:nvSpPr>
        <p:spPr>
          <a:xfrm rot="16200000">
            <a:off x="10493335" y="4621571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0437" y="1667819"/>
            <a:ext cx="6154995" cy="16009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and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c &gt; a: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print("Both conditions are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32683" y="1932839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Both conditions are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2" name="Arrow: Right 11"/>
          <p:cNvSpPr/>
          <p:nvPr/>
        </p:nvSpPr>
        <p:spPr>
          <a:xfrm>
            <a:off x="6843838" y="2190255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0437" y="3493032"/>
            <a:ext cx="7777319" cy="16573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or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&gt; c: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print("At least one of the conditions is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21213" y="3816881"/>
            <a:ext cx="309353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At least one of the conditions is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437" y="1667819"/>
            <a:ext cx="6154995" cy="16009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and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c &gt; a: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print("Both conditions are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32683" y="1932839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Both conditions are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2" name="Arrow: Right 11"/>
          <p:cNvSpPr/>
          <p:nvPr/>
        </p:nvSpPr>
        <p:spPr>
          <a:xfrm>
            <a:off x="6843838" y="2190255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/>
          <p:cNvSpPr/>
          <p:nvPr/>
        </p:nvSpPr>
        <p:spPr>
          <a:xfrm>
            <a:off x="8176752" y="4113687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  <p:bldP spid="7" grpId="0" bldLvl="0" animBg="1"/>
      <p:bldP spid="7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0437" y="3493032"/>
            <a:ext cx="7777319" cy="16573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or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&gt; c: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print("At least one of the conditions is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21213" y="3816881"/>
            <a:ext cx="309353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At least one of the conditions is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437" y="1667819"/>
            <a:ext cx="6154995" cy="16009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and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c &gt; a: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print("Both conditions are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32683" y="1932839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Both conditions are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0438" y="5375799"/>
            <a:ext cx="6154994" cy="12081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not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&gt; b: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is NOT greater than 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32683" y="5475038"/>
            <a:ext cx="4282059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NOT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2" name="Arrow: Right 11"/>
          <p:cNvSpPr/>
          <p:nvPr/>
        </p:nvSpPr>
        <p:spPr>
          <a:xfrm>
            <a:off x="6843838" y="2190255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/>
          <p:cNvSpPr/>
          <p:nvPr/>
        </p:nvSpPr>
        <p:spPr>
          <a:xfrm>
            <a:off x="8176752" y="4113687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/>
          <p:cNvSpPr/>
          <p:nvPr/>
        </p:nvSpPr>
        <p:spPr>
          <a:xfrm>
            <a:off x="6843838" y="5737546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  <p:bldP spid="7" grpId="0" bldLvl="0" animBg="1"/>
      <p:bldP spid="7" grpId="1" animBg="1"/>
      <p:bldP spid="11" grpId="0" bldLvl="0" animBg="1"/>
      <p:bldP spid="11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88988" y="2066005"/>
            <a:ext cx="6614024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41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x &gt; 10: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print("Above ten,")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 x &gt; 20: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print("and also above 20!")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else: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print("but not above 20.")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8988" y="5094957"/>
            <a:ext cx="6614024" cy="1153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Above ten,</a:t>
            </a:r>
            <a:endParaRPr lang="en-US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and also above 20!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Statement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88988" y="2066005"/>
            <a:ext cx="6614024" cy="29877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pass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else: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print("printing else")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print("without printing else")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8988" y="5281771"/>
            <a:ext cx="6614024" cy="1153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without printing else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Match Statement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match statement is used to perform different actions based on different conditions.</a:t>
            </a:r>
            <a:endParaRPr lang="en-US" dirty="0"/>
          </a:p>
          <a:p>
            <a:pPr algn="just"/>
            <a:r>
              <a:rPr lang="en-US" dirty="0"/>
              <a:t>The match statement selects one of many code blocks to be executed.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85382" y="3429000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match expression: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x: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code block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y: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code block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z: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code block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Match Statement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60094" y="1965960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day = 4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match day: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6: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print("Today is Saturday")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7: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print("Today is Sunday")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_: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print(“This is Weekend")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0094" y="4994913"/>
            <a:ext cx="5421235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This is Weekend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/>
          <a:lstStyle/>
          <a:p>
            <a:r>
              <a:rPr lang="en-AU" dirty="0"/>
              <a:t>Match Statement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48504" y="1965960"/>
            <a:ext cx="7494992" cy="33353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month = 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day = 4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match day: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1 | 2 | 3 | 4 | 5 if month == 4: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print("A weekday in April")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1 | 2 | 3 | 4 | 5 if month == 5: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print("A weekday in May")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_: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print("No match")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504" y="5396742"/>
            <a:ext cx="7494992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weekday in May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04685" y="2428240"/>
            <a:ext cx="5382630" cy="20015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4800" dirty="0"/>
              <a:t>Thank you!</a:t>
            </a:r>
            <a:endParaRPr lang="en-AU" sz="4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07D91D2FC448468F51D485BC1D6DA6" ma:contentTypeVersion="3" ma:contentTypeDescription="Create a new document." ma:contentTypeScope="" ma:versionID="c6051ea7ee6ff37683b0f8c01533e148">
  <xsd:schema xmlns:xsd="http://www.w3.org/2001/XMLSchema" xmlns:xs="http://www.w3.org/2001/XMLSchema" xmlns:p="http://schemas.microsoft.com/office/2006/metadata/properties" xmlns:ns2="d7262947-e457-4244-af88-a4355427ccde" targetNamespace="http://schemas.microsoft.com/office/2006/metadata/properties" ma:root="true" ma:fieldsID="6f800628f432177d92f1ead30b09b067" ns2:_="">
    <xsd:import namespace="d7262947-e457-4244-af88-a4355427cc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62947-e457-4244-af88-a4355427cc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DDBDAB-F176-4B44-8C05-399BCD8246C4}"/>
</file>

<file path=customXml/itemProps2.xml><?xml version="1.0" encoding="utf-8"?>
<ds:datastoreItem xmlns:ds="http://schemas.openxmlformats.org/officeDocument/2006/customXml" ds:itemID="{924FDD19-A287-498B-9E24-16E43F558A34}"/>
</file>

<file path=customXml/itemProps3.xml><?xml version="1.0" encoding="utf-8"?>
<ds:datastoreItem xmlns:ds="http://schemas.openxmlformats.org/officeDocument/2006/customXml" ds:itemID="{88E7C7FF-6591-46D6-AEA8-32DAAC11BB73}"/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9783</Words>
  <Application>WPS Presentation</Application>
  <PresentationFormat>Widescreen</PresentationFormat>
  <Paragraphs>678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1" baseType="lpstr">
      <vt:lpstr>Arial</vt:lpstr>
      <vt:lpstr>SimSun</vt:lpstr>
      <vt:lpstr>Wingdings</vt:lpstr>
      <vt:lpstr>Corbel</vt:lpstr>
      <vt:lpstr>苹方-简</vt:lpstr>
      <vt:lpstr>Consolas</vt:lpstr>
      <vt:lpstr>Tw Cen MT</vt:lpstr>
      <vt:lpstr>Rockwell</vt:lpstr>
      <vt:lpstr>Microsoft YaHei</vt:lpstr>
      <vt:lpstr>汉仪旗黑</vt:lpstr>
      <vt:lpstr>Arial Unicode MS</vt:lpstr>
      <vt:lpstr>Calibri</vt:lpstr>
      <vt:lpstr>Helvetica Neue</vt:lpstr>
      <vt:lpstr>Courier New</vt:lpstr>
      <vt:lpstr>Segoe UI</vt:lpstr>
      <vt:lpstr>汉仪书宋二KW</vt:lpstr>
      <vt:lpstr>Basis</vt:lpstr>
      <vt:lpstr>Python basics</vt:lpstr>
      <vt:lpstr>Topics</vt:lpstr>
      <vt:lpstr>Python</vt:lpstr>
      <vt:lpstr>Why Python in 2026</vt:lpstr>
      <vt:lpstr>Getting Started</vt:lpstr>
      <vt:lpstr>Code Writing Options</vt:lpstr>
      <vt:lpstr>Code Writing Options</vt:lpstr>
      <vt:lpstr>Code Writing Options</vt:lpstr>
      <vt:lpstr>Code Writing Options</vt:lpstr>
      <vt:lpstr>Code Writing Options</vt:lpstr>
      <vt:lpstr>Code Writing Options</vt:lpstr>
      <vt:lpstr>Python Indentation</vt:lpstr>
      <vt:lpstr>Comments</vt:lpstr>
      <vt:lpstr>Variables</vt:lpstr>
      <vt:lpstr>Variables</vt:lpstr>
      <vt:lpstr>Variable Names</vt:lpstr>
      <vt:lpstr>Variable Names</vt:lpstr>
      <vt:lpstr>Output Variables</vt:lpstr>
      <vt:lpstr>Output Variables</vt:lpstr>
      <vt:lpstr>Variables - Assign Multiple Values</vt:lpstr>
      <vt:lpstr>Global Variables</vt:lpstr>
      <vt:lpstr>Global Variables</vt:lpstr>
      <vt:lpstr>Data Types</vt:lpstr>
      <vt:lpstr>Data Types</vt:lpstr>
      <vt:lpstr>User Input</vt:lpstr>
      <vt:lpstr>Python if…else</vt:lpstr>
      <vt:lpstr>If ... Else</vt:lpstr>
      <vt:lpstr>If ... Else</vt:lpstr>
      <vt:lpstr>If ... Else</vt:lpstr>
      <vt:lpstr>If ... Else</vt:lpstr>
      <vt:lpstr>Else</vt:lpstr>
      <vt:lpstr>Else</vt:lpstr>
      <vt:lpstr>Short Hand If, If … Else</vt:lpstr>
      <vt:lpstr>Short Hand If, If … Else</vt:lpstr>
      <vt:lpstr>Short Hand If, If … Else</vt:lpstr>
      <vt:lpstr>Logical Operators</vt:lpstr>
      <vt:lpstr>Logical Operators</vt:lpstr>
      <vt:lpstr>Logical Operators</vt:lpstr>
      <vt:lpstr>Nested If</vt:lpstr>
      <vt:lpstr>Pass Statement</vt:lpstr>
      <vt:lpstr>Match Statement</vt:lpstr>
      <vt:lpstr>Match Statement</vt:lpstr>
      <vt:lpstr>Match Statement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basics</dc:title>
  <dc:creator>Abdus Salam</dc:creator>
  <cp:lastModifiedBy>KONOK</cp:lastModifiedBy>
  <cp:revision>15</cp:revision>
  <dcterms:created xsi:type="dcterms:W3CDTF">2026-10-06T04:30:44Z</dcterms:created>
  <dcterms:modified xsi:type="dcterms:W3CDTF">2026-10-06T04:30:44Z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8DAF933D864D5B91EC91276AF2A4CBC1_42</vt:lpwstr>
  </property>
  <property fmtid="{D5CDD505-2E9C-101B-9397-08002B2CF9AE}" pid="4" name="ContentTypeId">
    <vt:lpwstr>0x010100FC07D91D2FC448468F51D485BC1D6DA6</vt:lpwstr>
  </property>
</Properties>
</file>