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2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8" Type="http://schemas.openxmlformats.org/officeDocument/2006/relationships/slide" Target="slides/slide16.xml"/><Relationship Id="rId13" Type="http://schemas.openxmlformats.org/officeDocument/2006/relationships/slide" Target="slides/slide11.xml"/><Relationship Id="rId26" Type="http://schemas.openxmlformats.org/officeDocument/2006/relationships/customXml" Target="../customXml/item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25" Type="http://schemas.openxmlformats.org/officeDocument/2006/relationships/tableStyles" Target="tableStyles.xml"/><Relationship Id="rId17" Type="http://schemas.openxmlformats.org/officeDocument/2006/relationships/slide" Target="slides/slide15.xml"/><Relationship Id="rId12" Type="http://schemas.openxmlformats.org/officeDocument/2006/relationships/slide" Target="slides/slide10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6" Type="http://schemas.openxmlformats.org/officeDocument/2006/relationships/slide" Target="slides/slide14.xml"/><Relationship Id="rId6" Type="http://schemas.openxmlformats.org/officeDocument/2006/relationships/slide" Target="slides/slide4.xml"/><Relationship Id="rId24" Type="http://schemas.openxmlformats.org/officeDocument/2006/relationships/viewProps" Target="viewProps.xml"/><Relationship Id="rId11" Type="http://schemas.openxmlformats.org/officeDocument/2006/relationships/slide" Target="slides/slide9.xml"/><Relationship Id="rId1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23" Type="http://schemas.openxmlformats.org/officeDocument/2006/relationships/presProps" Target="presProps.xml"/><Relationship Id="rId15" Type="http://schemas.openxmlformats.org/officeDocument/2006/relationships/slide" Target="slides/slide13.xml"/><Relationship Id="rId28" Type="http://schemas.openxmlformats.org/officeDocument/2006/relationships/customXml" Target="../customXml/item3.xml"/><Relationship Id="rId19" Type="http://schemas.openxmlformats.org/officeDocument/2006/relationships/slide" Target="slides/slide17.xml"/><Relationship Id="rId10" Type="http://schemas.openxmlformats.org/officeDocument/2006/relationships/slide" Target="slides/slide8.xml"/><Relationship Id="rId9" Type="http://schemas.openxmlformats.org/officeDocument/2006/relationships/slide" Target="slides/slide7.xml"/><Relationship Id="rId4" Type="http://schemas.openxmlformats.org/officeDocument/2006/relationships/slide" Target="slides/slide2.xml"/><Relationship Id="rId22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B71641-8734-46D9-88F9-282D04992F62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F2FEF9-00A7-4721-A1E7-49360E233C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D2996E-1414-46EB-833C-A7A8E25E7BC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D2B390-6E97-40AF-AAF8-EE2206B664DE}" type="slidenum">
              <a:rPr lang="en-US" smtClean="0"/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AD73B-8E25-4F68-87A7-1ECCB85C9494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C68A2-3BAC-44C9-9CCF-E0BC532BE6E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EC9AA7-0089-449F-90FA-6A352F09F27E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2D8AC-E33E-427C-B1F9-B2C94C89EB9C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11E65-2F6E-4D9F-BB97-846AEF0CEBD4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580C4E-17A7-4EA9-BF6D-96FB5B13E43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0FA27-E0A8-479E-8C2D-CEEF721D8069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B713-984E-4B1F-9A8B-5572C93D24D2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F6C98-29EF-48EE-8C7C-83586B48103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49F70-B1F7-4194-8089-15E3B32DC4A2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8662A9B6-A2DB-440B-BF2E-69698A0DC053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tx1"/>
        </a:buClr>
        <a:buSzPct val="80000"/>
        <a:buFont typeface="Corbe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tx1"/>
        </a:buClr>
        <a:buSzPct val="80000"/>
        <a:buFont typeface="Corbe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Python if…else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Programming in Python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... Else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Python supports the usual logical conditions from mathematics:</a:t>
            </a:r>
            <a:endParaRPr lang="en-US" dirty="0"/>
          </a:p>
          <a:p>
            <a:pPr lvl="1">
              <a:spcBef>
                <a:spcPts val="1200"/>
              </a:spcBef>
            </a:pPr>
            <a:r>
              <a:rPr lang="en-US" sz="2200" dirty="0"/>
              <a:t>Equals: 			a == b</a:t>
            </a:r>
            <a:endParaRPr lang="en-US" sz="2200" dirty="0"/>
          </a:p>
          <a:p>
            <a:pPr lvl="1"/>
            <a:r>
              <a:rPr lang="en-US" sz="2200" dirty="0"/>
              <a:t>Not Equals: 		a != b</a:t>
            </a:r>
            <a:endParaRPr lang="en-US" sz="2200" dirty="0"/>
          </a:p>
          <a:p>
            <a:pPr lvl="1"/>
            <a:r>
              <a:rPr lang="en-US" sz="2200" dirty="0"/>
              <a:t>Less than: 			a &lt; b</a:t>
            </a:r>
            <a:endParaRPr lang="en-US" sz="2200" dirty="0"/>
          </a:p>
          <a:p>
            <a:pPr lvl="1"/>
            <a:r>
              <a:rPr lang="en-US" sz="2200" dirty="0"/>
              <a:t>Less than or equal: 	a &lt;= b</a:t>
            </a:r>
            <a:endParaRPr lang="en-US" sz="2200" dirty="0"/>
          </a:p>
          <a:p>
            <a:pPr lvl="1"/>
            <a:r>
              <a:rPr lang="en-US" sz="2200" dirty="0"/>
              <a:t>Greater than: 		a &gt; b</a:t>
            </a:r>
            <a:endParaRPr lang="en-US" sz="2200" dirty="0"/>
          </a:p>
          <a:p>
            <a:pPr lvl="1"/>
            <a:r>
              <a:rPr lang="en-US" sz="2200" dirty="0"/>
              <a:t>Greater than or equal: 	a &gt;= b</a:t>
            </a:r>
            <a:endParaRPr lang="en-US" sz="2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...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68777" y="2050763"/>
            <a:ext cx="5454445" cy="190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...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68777" y="2050763"/>
            <a:ext cx="5454445" cy="190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32099" y="1698093"/>
            <a:ext cx="391690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is greater than a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...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68777" y="2050763"/>
            <a:ext cx="5454445" cy="190745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52212" y="4195179"/>
            <a:ext cx="5454445" cy="190745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print("b is greater than a")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099" y="1698093"/>
            <a:ext cx="391690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is greater than a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Else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385382" y="5094957"/>
            <a:ext cx="5421235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385382" y="2066005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else: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is greater than b")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Else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47978" y="2057399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elif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== b: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and b are equal")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else: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is greater than b")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347978" y="5086351"/>
            <a:ext cx="5421235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437" y="2057398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 is greater than a")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 err="1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elif</a:t>
            </a:r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== b: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and b are equal")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60437" y="5086351"/>
            <a:ext cx="5421235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and b are equal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4" grpId="0" animBg="1"/>
      <p:bldP spid="4" grpId="1" animBg="1"/>
      <p:bldP spid="6" grpId="0" animBg="1"/>
      <p:bldP spid="6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Hand If, If … Else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0437" y="1736643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b: print("a is greater than 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49503" y="1931721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Arrow: Right 9"/>
          <p:cNvSpPr/>
          <p:nvPr/>
        </p:nvSpPr>
        <p:spPr>
          <a:xfrm>
            <a:off x="6752248" y="2197631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Hand If, If …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60436" y="3436374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print("A") if a &gt; b else print("B")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49503" y="3600244"/>
            <a:ext cx="2031534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alt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</a:t>
            </a:r>
            <a:endParaRPr lang="en-US" alt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0437" y="1736643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b: print("a is greater than 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49503" y="1931721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Arrow: Right 9"/>
          <p:cNvSpPr/>
          <p:nvPr/>
        </p:nvSpPr>
        <p:spPr>
          <a:xfrm>
            <a:off x="6752248" y="2197631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/>
          <p:cNvSpPr/>
          <p:nvPr/>
        </p:nvSpPr>
        <p:spPr>
          <a:xfrm>
            <a:off x="6755292" y="3893390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Hand If, If … Else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60436" y="3436374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print("A") if a &gt; b else print("B")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349503" y="3600244"/>
            <a:ext cx="2031534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0437" y="1736643"/>
            <a:ext cx="6154995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b: print("a is greater than 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349503" y="1931721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437" y="5128161"/>
            <a:ext cx="11071126" cy="140660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print("A") if a &gt; b else print("=") if a == b else print("B")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714271" y="3634853"/>
            <a:ext cx="1917292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=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Arrow: Right 9"/>
          <p:cNvSpPr/>
          <p:nvPr/>
        </p:nvSpPr>
        <p:spPr>
          <a:xfrm>
            <a:off x="6752248" y="2197631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/>
          <p:cNvSpPr/>
          <p:nvPr/>
        </p:nvSpPr>
        <p:spPr>
          <a:xfrm>
            <a:off x="6755292" y="3893390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/>
          <p:cNvSpPr/>
          <p:nvPr/>
        </p:nvSpPr>
        <p:spPr>
          <a:xfrm rot="16200000">
            <a:off x="10493335" y="4621571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0437" y="1667819"/>
            <a:ext cx="6154995" cy="16009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and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c &gt; a: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print("Both conditions are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32683" y="1932839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Both conditions are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2" name="Arrow: Right 11"/>
          <p:cNvSpPr/>
          <p:nvPr/>
        </p:nvSpPr>
        <p:spPr>
          <a:xfrm>
            <a:off x="6843838" y="2190255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0437" y="3493032"/>
            <a:ext cx="7777319" cy="165734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or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&gt; c: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print("At least one of the conditions is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21213" y="3816881"/>
            <a:ext cx="309353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At least one of the conditions is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437" y="1667819"/>
            <a:ext cx="6154995" cy="16009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and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c &gt; a: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print("Both conditions are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32683" y="1932839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Both conditions are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2" name="Arrow: Right 11"/>
          <p:cNvSpPr/>
          <p:nvPr/>
        </p:nvSpPr>
        <p:spPr>
          <a:xfrm>
            <a:off x="6843838" y="2190255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/>
          <p:cNvSpPr/>
          <p:nvPr/>
        </p:nvSpPr>
        <p:spPr>
          <a:xfrm>
            <a:off x="8176752" y="4113687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7" grpId="0" animBg="1"/>
      <p:bldP spid="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Logical Operators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60437" y="3493032"/>
            <a:ext cx="7777319" cy="165734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or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&gt; c: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print("At least one of the conditions is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721213" y="3816881"/>
            <a:ext cx="309353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At least one of the conditions is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0437" y="1667819"/>
            <a:ext cx="6154995" cy="16009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c = 500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a &gt; b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and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c &gt; a: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print("Both conditions are True")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32683" y="1932839"/>
            <a:ext cx="4282060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Both conditions are True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60438" y="5375799"/>
            <a:ext cx="6154994" cy="120812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</a:t>
            </a:r>
            <a:r>
              <a:rPr lang="en-US" sz="2000" b="1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not</a:t>
            </a:r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a &gt; b: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 is NOT greater than b")</a:t>
            </a:r>
            <a:endParaRPr lang="en-US" sz="20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532683" y="5475038"/>
            <a:ext cx="4282059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is NOT greater than b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2" name="Arrow: Right 11"/>
          <p:cNvSpPr/>
          <p:nvPr/>
        </p:nvSpPr>
        <p:spPr>
          <a:xfrm>
            <a:off x="6843838" y="2190255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/>
          <p:cNvSpPr/>
          <p:nvPr/>
        </p:nvSpPr>
        <p:spPr>
          <a:xfrm>
            <a:off x="8176752" y="4113687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/>
          <p:cNvSpPr/>
          <p:nvPr/>
        </p:nvSpPr>
        <p:spPr>
          <a:xfrm>
            <a:off x="6843838" y="5737546"/>
            <a:ext cx="560439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7" grpId="0" animBg="1"/>
      <p:bldP spid="7" grpId="1" animBg="1"/>
      <p:bldP spid="11" grpId="0" animBg="1"/>
      <p:bldP spid="11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If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88988" y="2066005"/>
            <a:ext cx="6614024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x = 41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x &gt; 10: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print("Above ten,")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if x &gt; 20: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print("and also above 20!")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else: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print("but not above 20.")</a:t>
            </a:r>
            <a:endParaRPr lang="en-US" sz="22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8988" y="5094957"/>
            <a:ext cx="6614024" cy="1153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Above ten,</a:t>
            </a:r>
            <a:endParaRPr lang="en-US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and also above 20!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 Statement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788988" y="2066005"/>
            <a:ext cx="6614024" cy="298777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a = 33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b = 200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if b &gt; a: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pass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else: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print("printing else")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print("without printing else")</a:t>
            </a:r>
            <a:endParaRPr lang="en-US" sz="200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8988" y="5281771"/>
            <a:ext cx="6614024" cy="11534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without printing else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Match Statement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match statement is used to perform different actions based on different conditions.</a:t>
            </a:r>
            <a:endParaRPr lang="en-US" dirty="0"/>
          </a:p>
          <a:p>
            <a:pPr algn="just"/>
            <a:r>
              <a:rPr lang="en-US" dirty="0"/>
              <a:t>The match statement selects one of many code blocks to be executed.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385382" y="3429000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match expression: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x: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code block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y: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code block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z: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code block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Match Statement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60094" y="1965960"/>
            <a:ext cx="5421235" cy="282603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day = 4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match day: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6: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print("Today is Saturday")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7: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print("Today is Sunday")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_: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print(“This is Weekend")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60094" y="4994913"/>
            <a:ext cx="5421235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This is Weekend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/>
          <a:lstStyle/>
          <a:p>
            <a:r>
              <a:rPr lang="en-AU" dirty="0"/>
              <a:t>Match Statement</a:t>
            </a:r>
            <a:endParaRPr lang="en-US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48504" y="1965960"/>
            <a:ext cx="7494992" cy="3335383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month = 5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day = 4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match day: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1 | 2 | 3 | 4 | 5 if month == 4: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print("A weekday in April")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1 | 2 | 3 | 4 | 5 if month == 5: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print("A weekday in May")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case _:</a:t>
            </a:r>
            <a:endParaRPr lang="en-US" sz="2200" b="0" i="0" dirty="0">
              <a:solidFill>
                <a:schemeClr val="tx1"/>
              </a:solidFill>
              <a:effectLst/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200" b="0" i="0" dirty="0">
                <a:solidFill>
                  <a:schemeClr val="tx1"/>
                </a:solidFill>
                <a:effectLst/>
                <a:latin typeface="Courier New" panose="02070609020205020404" pitchFamily="49" charset="0"/>
                <a:cs typeface="Courier New" panose="02070609020205020404" pitchFamily="49" charset="0"/>
              </a:rPr>
              <a:t>    print("No match")</a:t>
            </a:r>
            <a:endParaRPr lang="en-AU" sz="22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348504" y="5396742"/>
            <a:ext cx="7494992" cy="1009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AU" sz="2000" b="1" dirty="0">
                <a:solidFill>
                  <a:srgbClr val="0000FF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Output</a:t>
            </a:r>
            <a:r>
              <a:rPr lang="en-AU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 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</a:rPr>
              <a:t>A weekday in May</a:t>
            </a:r>
            <a:endParaRPr lang="en-AU" sz="20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404685" y="2428240"/>
            <a:ext cx="5382630" cy="20015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sz="2200" dirty="0"/>
              <a:t>Questions?</a:t>
            </a:r>
            <a:endParaRPr lang="en-AU" sz="2200" dirty="0"/>
          </a:p>
          <a:p>
            <a:pPr algn="ctr"/>
            <a:endParaRPr lang="en-AU" sz="2200" dirty="0"/>
          </a:p>
          <a:p>
            <a:pPr algn="ctr"/>
            <a:r>
              <a:rPr lang="en-AU" sz="2200" dirty="0"/>
              <a:t>Thank you!</a:t>
            </a:r>
            <a:endParaRPr lang="en-AU" sz="22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2B390-6E97-40AF-AAF8-EE2206B664DE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Tw Cen MT-Rockwell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C07D91D2FC448468F51D485BC1D6DA6" ma:contentTypeVersion="3" ma:contentTypeDescription="Create a new document." ma:contentTypeScope="" ma:versionID="c6051ea7ee6ff37683b0f8c01533e148">
  <xsd:schema xmlns:xsd="http://www.w3.org/2001/XMLSchema" xmlns:xs="http://www.w3.org/2001/XMLSchema" xmlns:p="http://schemas.microsoft.com/office/2006/metadata/properties" xmlns:ns2="d7262947-e457-4244-af88-a4355427ccde" targetNamespace="http://schemas.microsoft.com/office/2006/metadata/properties" ma:root="true" ma:fieldsID="6f800628f432177d92f1ead30b09b067" ns2:_="">
    <xsd:import namespace="d7262947-e457-4244-af88-a4355427cc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262947-e457-4244-af88-a4355427cc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48F5408-5313-4FD9-84D8-3D6145F4579A}"/>
</file>

<file path=customXml/itemProps2.xml><?xml version="1.0" encoding="utf-8"?>
<ds:datastoreItem xmlns:ds="http://schemas.openxmlformats.org/officeDocument/2006/customXml" ds:itemID="{B719A2E3-7C7D-44B4-82FF-EA51428F7C17}"/>
</file>

<file path=customXml/itemProps3.xml><?xml version="1.0" encoding="utf-8"?>
<ds:datastoreItem xmlns:ds="http://schemas.openxmlformats.org/officeDocument/2006/customXml" ds:itemID="{0025E099-9A56-4AE6-99CB-988E83464E58}"/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0</TotalTime>
  <Words>3121</Words>
  <Application>WPS Presentation</Application>
  <PresentationFormat>Widescreen</PresentationFormat>
  <Paragraphs>303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SimSun</vt:lpstr>
      <vt:lpstr>Wingdings</vt:lpstr>
      <vt:lpstr>Corbel</vt:lpstr>
      <vt:lpstr>苹方-简</vt:lpstr>
      <vt:lpstr>Courier New</vt:lpstr>
      <vt:lpstr>Segoe UI</vt:lpstr>
      <vt:lpstr>Tw Cen MT</vt:lpstr>
      <vt:lpstr>Rockwell</vt:lpstr>
      <vt:lpstr>Microsoft YaHei</vt:lpstr>
      <vt:lpstr>汉仪旗黑</vt:lpstr>
      <vt:lpstr>Arial Unicode MS</vt:lpstr>
      <vt:lpstr>Aptos</vt:lpstr>
      <vt:lpstr>Helvetica Neue</vt:lpstr>
      <vt:lpstr>Basis</vt:lpstr>
      <vt:lpstr>Python if…else</vt:lpstr>
      <vt:lpstr>If ... Else</vt:lpstr>
      <vt:lpstr>If ... Else</vt:lpstr>
      <vt:lpstr>If ... Else</vt:lpstr>
      <vt:lpstr>If ... Else</vt:lpstr>
      <vt:lpstr>Else</vt:lpstr>
      <vt:lpstr>Else</vt:lpstr>
      <vt:lpstr>Short Hand If, If … Else</vt:lpstr>
      <vt:lpstr>Short Hand If, If … Else</vt:lpstr>
      <vt:lpstr>Short Hand If, If … Else</vt:lpstr>
      <vt:lpstr>Logical Operators</vt:lpstr>
      <vt:lpstr>Logical Operators</vt:lpstr>
      <vt:lpstr>Logical Operators</vt:lpstr>
      <vt:lpstr>Nested If</vt:lpstr>
      <vt:lpstr>Pass Statement</vt:lpstr>
      <vt:lpstr>Match Statement</vt:lpstr>
      <vt:lpstr>Match Statement</vt:lpstr>
      <vt:lpstr>Match Statement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Abdus Salam</dc:creator>
  <cp:lastModifiedBy>KONOK</cp:lastModifiedBy>
  <cp:revision>21</cp:revision>
  <dcterms:created xsi:type="dcterms:W3CDTF">2026-09-30T04:05:35Z</dcterms:created>
  <dcterms:modified xsi:type="dcterms:W3CDTF">2026-09-30T04:05:35Z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1033-12.1.28496.28496</vt:lpwstr>
  </property>
  <property fmtid="{D5CDD505-2E9C-101B-9397-08002B2CF9AE}" pid="3" name="ICV">
    <vt:lpwstr>D22EBC0A34F4238F05A5276AF76C66FF_42</vt:lpwstr>
  </property>
  <property fmtid="{D5CDD505-2E9C-101B-9397-08002B2CF9AE}" pid="4" name="ContentTypeId">
    <vt:lpwstr>0x010100FC07D91D2FC448468F51D485BC1D6DA6</vt:lpwstr>
  </property>
</Properties>
</file>