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73" r:id="rId4"/>
    <p:sldId id="285" r:id="rId5"/>
    <p:sldId id="281" r:id="rId6"/>
    <p:sldId id="274" r:id="rId7"/>
    <p:sldId id="284" r:id="rId8"/>
    <p:sldId id="275" r:id="rId9"/>
    <p:sldId id="276" r:id="rId11"/>
    <p:sldId id="277" r:id="rId12"/>
    <p:sldId id="278" r:id="rId13"/>
    <p:sldId id="279" r:id="rId14"/>
    <p:sldId id="282" r:id="rId15"/>
    <p:sldId id="280" r:id="rId16"/>
    <p:sldId id="283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8" Type="http://schemas.openxmlformats.org/officeDocument/2006/relationships/slide" Target="slides/slide15.xml"/><Relationship Id="rId13" Type="http://schemas.openxmlformats.org/officeDocument/2006/relationships/slide" Target="slides/slide10.xml"/><Relationship Id="rId39" Type="http://schemas.openxmlformats.org/officeDocument/2006/relationships/customXml" Target="../customXml/item1.xml"/><Relationship Id="rId34" Type="http://schemas.openxmlformats.org/officeDocument/2006/relationships/slide" Target="slides/slide31.xml"/><Relationship Id="rId21" Type="http://schemas.openxmlformats.org/officeDocument/2006/relationships/slide" Target="slides/slide18.xml"/><Relationship Id="rId7" Type="http://schemas.openxmlformats.org/officeDocument/2006/relationships/slide" Target="slides/slide5.xml"/><Relationship Id="rId29" Type="http://schemas.openxmlformats.org/officeDocument/2006/relationships/slide" Target="slides/slide26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6" Type="http://schemas.openxmlformats.org/officeDocument/2006/relationships/slide" Target="slides/slide13.xml"/><Relationship Id="rId41" Type="http://schemas.openxmlformats.org/officeDocument/2006/relationships/customXml" Target="../customXml/item3.xml"/><Relationship Id="rId6" Type="http://schemas.openxmlformats.org/officeDocument/2006/relationships/slide" Target="slides/slide4.xml"/><Relationship Id="rId37" Type="http://schemas.openxmlformats.org/officeDocument/2006/relationships/viewProps" Target="viewProps.xml"/><Relationship Id="rId32" Type="http://schemas.openxmlformats.org/officeDocument/2006/relationships/slide" Target="slides/slide29.xml"/><Relationship Id="rId24" Type="http://schemas.openxmlformats.org/officeDocument/2006/relationships/slide" Target="slides/slide21.xml"/><Relationship Id="rId11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40" Type="http://schemas.openxmlformats.org/officeDocument/2006/relationships/customXml" Target="../customXml/item2.xml"/><Relationship Id="rId5" Type="http://schemas.openxmlformats.org/officeDocument/2006/relationships/slide" Target="slides/slide3.xml"/><Relationship Id="rId36" Type="http://schemas.openxmlformats.org/officeDocument/2006/relationships/presProps" Target="presProps.xml"/><Relationship Id="rId28" Type="http://schemas.openxmlformats.org/officeDocument/2006/relationships/slide" Target="slides/slide25.xml"/><Relationship Id="rId23" Type="http://schemas.openxmlformats.org/officeDocument/2006/relationships/slide" Target="slides/slide20.xml"/><Relationship Id="rId15" Type="http://schemas.openxmlformats.org/officeDocument/2006/relationships/slide" Target="slides/slide12.xml"/><Relationship Id="rId31" Type="http://schemas.openxmlformats.org/officeDocument/2006/relationships/slide" Target="slides/slide28.xml"/><Relationship Id="rId19" Type="http://schemas.openxmlformats.org/officeDocument/2006/relationships/slide" Target="slides/slide16.xml"/><Relationship Id="rId10" Type="http://schemas.openxmlformats.org/officeDocument/2006/relationships/notesMaster" Target="notesMasters/notesMaster1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35" Type="http://schemas.openxmlformats.org/officeDocument/2006/relationships/slide" Target="slides/slide32.xml"/><Relationship Id="rId30" Type="http://schemas.openxmlformats.org/officeDocument/2006/relationships/slide" Target="slides/slide27.xml"/><Relationship Id="rId27" Type="http://schemas.openxmlformats.org/officeDocument/2006/relationships/slide" Target="slides/slide24.xml"/><Relationship Id="rId22" Type="http://schemas.openxmlformats.org/officeDocument/2006/relationships/slide" Target="slides/slide19.xml"/><Relationship Id="rId14" Type="http://schemas.openxmlformats.org/officeDocument/2006/relationships/slide" Target="slides/slide1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38" Type="http://schemas.openxmlformats.org/officeDocument/2006/relationships/tableStyles" Target="tableStyles.xml"/><Relationship Id="rId33" Type="http://schemas.openxmlformats.org/officeDocument/2006/relationships/slide" Target="slides/slide30.xml"/><Relationship Id="rId25" Type="http://schemas.openxmlformats.org/officeDocument/2006/relationships/slide" Target="slides/slide22.xml"/><Relationship Id="rId17" Type="http://schemas.openxmlformats.org/officeDocument/2006/relationships/slide" Target="slides/slide14.xml"/><Relationship Id="rId12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71641-8734-46D9-88F9-282D04992F6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2FEF9-00A7-4721-A1E7-49360E233C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2FEF9-00A7-4721-A1E7-49360E233C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D2996E-1414-46EB-833C-A7A8E25E7BC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D2B390-6E97-40AF-AAF8-EE2206B664DE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D73B-8E25-4F68-87A7-1ECCB85C949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68A2-3BAC-44C9-9CCF-E0BC532BE6E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C9AA7-0089-449F-90FA-6A352F09F27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D8AC-E33E-427C-B1F9-B2C94C89EB9C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11E65-2F6E-4D9F-BB97-846AEF0CEBD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0C4E-17A7-4EA9-BF6D-96FB5B13E43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FA27-E0A8-479E-8C2D-CEEF721D806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B713-984E-4B1F-9A8B-5572C93D24D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6C98-29EF-48EE-8C7C-83586B48103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9F70-B1F7-4194-8089-15E3B32DC4A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662A9B6-A2DB-440B-BF2E-69698A0DC05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Python loops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 in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200" dirty="0"/>
              <a:t>Python Loops</a:t>
            </a:r>
            <a:endParaRPr lang="en-US" altLang="en-US" sz="2200" dirty="0"/>
          </a:p>
          <a:p>
            <a:pPr algn="just"/>
            <a:r>
              <a:rPr lang="en-US" altLang="en-US" sz="2200" dirty="0"/>
              <a:t>For Loops &amp; While Loops</a:t>
            </a:r>
            <a:endParaRPr lang="en-US" altLang="en-US" sz="2200" dirty="0"/>
          </a:p>
          <a:p>
            <a:pPr algn="just"/>
            <a:r>
              <a:rPr lang="en-US" altLang="en-US" sz="2200" dirty="0"/>
              <a:t>Loop Control: Break, Continue &amp; Else</a:t>
            </a:r>
            <a:endParaRPr lang="en-US" altLang="en-US" sz="2200" dirty="0"/>
          </a:p>
          <a:p>
            <a:pPr algn="just"/>
            <a:r>
              <a:rPr lang="en-US" altLang="en-US" sz="2200" dirty="0"/>
              <a:t>Range, Nested Loops &amp; Pass</a:t>
            </a:r>
            <a:endParaRPr lang="en-US" altLang="en-US" sz="2200" dirty="0"/>
          </a:p>
          <a:p>
            <a:pPr algn="just"/>
            <a:r>
              <a:rPr lang="en-US" altLang="en-US" sz="2200" dirty="0"/>
              <a:t>Functions &amp; Arguments</a:t>
            </a:r>
            <a:endParaRPr lang="en-US" altLang="en-US" sz="2200" dirty="0"/>
          </a:p>
          <a:p>
            <a:pPr algn="just"/>
            <a:r>
              <a:rPr lang="en-US" altLang="en-US" sz="2200" dirty="0"/>
              <a:t>Default, Keyword &amp; Arbitrary Arguments</a:t>
            </a:r>
            <a:endParaRPr lang="en-US" altLang="en-US" sz="2200" dirty="0"/>
          </a:p>
          <a:p>
            <a:pPr algn="just"/>
            <a:r>
              <a:rPr lang="en-US" altLang="en-US" sz="2200" dirty="0"/>
              <a:t>Return Values &amp; Recursion</a:t>
            </a:r>
            <a:endParaRPr lang="en-US" altLang="en-US" sz="2200" dirty="0"/>
          </a:p>
          <a:p>
            <a:pPr algn="just"/>
            <a:r>
              <a:rPr lang="en-US" altLang="en-US" sz="2200" dirty="0"/>
              <a:t>Lambda Functions</a:t>
            </a:r>
            <a:endParaRPr lang="en-US" alt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Python has two primitive loop commands:</a:t>
            </a:r>
            <a:endParaRPr lang="en-US" dirty="0"/>
          </a:p>
          <a:p>
            <a:pPr lvl="1" algn="just">
              <a:spcBef>
                <a:spcPts val="1200"/>
              </a:spcBef>
            </a:pPr>
            <a:r>
              <a:rPr lang="en-US" sz="2200" b="1" i="1" dirty="0"/>
              <a:t>while</a:t>
            </a:r>
            <a:r>
              <a:rPr lang="en-US" sz="2200" dirty="0"/>
              <a:t> loops</a:t>
            </a:r>
            <a:endParaRPr lang="en-US" sz="2200" dirty="0"/>
          </a:p>
          <a:p>
            <a:pPr lvl="1" algn="just"/>
            <a:r>
              <a:rPr lang="en-US" sz="2200" b="1" i="1" dirty="0"/>
              <a:t>for</a:t>
            </a:r>
            <a:r>
              <a:rPr lang="en-US" sz="2200" dirty="0"/>
              <a:t> loops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“for” loop is used for iterating over a sequence (that is either a list, a tuple, a dictionary, a set, or a string).</a:t>
            </a:r>
            <a:endParaRPr lang="en-US" dirty="0"/>
          </a:p>
          <a:p>
            <a:pPr algn="just"/>
            <a:r>
              <a:rPr lang="en-US" dirty="0"/>
              <a:t>With the “for” loop we can execute a set of statements, once for each item in a list, tuple, set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9580" y="1786766"/>
            <a:ext cx="6644148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x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fruits: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1786766"/>
            <a:ext cx="3916900" cy="1356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apple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banana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cherry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9580" y="4076700"/>
            <a:ext cx="6644148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x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"banana":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98950" y="4076700"/>
            <a:ext cx="3916900" cy="2250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</a:t>
            </a:r>
            <a:endParaRPr lang="pt-BR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endParaRPr lang="pt-BR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n</a:t>
            </a:r>
            <a:endParaRPr lang="pt-BR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endParaRPr lang="pt-BR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n</a:t>
            </a:r>
            <a:endParaRPr lang="pt-BR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3" y="1779565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/>
          <p:cNvSpPr/>
          <p:nvPr/>
        </p:nvSpPr>
        <p:spPr>
          <a:xfrm>
            <a:off x="7104032" y="4076700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 (Enumerate)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53745" y="2856764"/>
            <a:ext cx="6644148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val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enumerate(fruits):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val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73115" y="2856764"/>
            <a:ext cx="3916900" cy="1356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0 apple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 banana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 cherry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6978198" y="2849563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698950" y="3348931"/>
            <a:ext cx="3916900" cy="1356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apple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 (break &amp; continue)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59874" y="1686845"/>
            <a:ext cx="6644148" cy="15562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fruits: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x == "banana":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break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1786766"/>
            <a:ext cx="3916900" cy="1356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apple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banana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9874" y="3348931"/>
            <a:ext cx="6644148" cy="15562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fruits: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x == "banana":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break</a:t>
            </a:r>
            <a:endParaRPr lang="en-US" sz="2000" b="1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1" y="2626415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/>
          <p:cNvSpPr/>
          <p:nvPr/>
        </p:nvSpPr>
        <p:spPr>
          <a:xfrm>
            <a:off x="7104031" y="4127032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9874" y="5032138"/>
            <a:ext cx="6644148" cy="15562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fruits: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x == "banana":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continue</a:t>
            </a:r>
            <a:endParaRPr lang="en-US" sz="2000" b="1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98950" y="5032138"/>
            <a:ext cx="3916900" cy="1356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apple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cherry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4" name="Arrow: Right 13"/>
          <p:cNvSpPr/>
          <p:nvPr/>
        </p:nvSpPr>
        <p:spPr>
          <a:xfrm>
            <a:off x="7104031" y="5810239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698950" y="3348931"/>
            <a:ext cx="3916900" cy="14827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4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 (range() </a:t>
            </a:r>
            <a:r>
              <a:rPr lang="en-US" dirty="0" err="1"/>
              <a:t>func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59874" y="1686845"/>
            <a:ext cx="6644148" cy="1384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range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(6):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884903"/>
            <a:ext cx="3916900" cy="21583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4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9874" y="3348931"/>
            <a:ext cx="6644148" cy="1384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range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(2, 6):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1" y="2626415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/>
          <p:cNvSpPr/>
          <p:nvPr/>
        </p:nvSpPr>
        <p:spPr>
          <a:xfrm>
            <a:off x="7104031" y="4127032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9874" y="5032138"/>
            <a:ext cx="6644148" cy="1384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range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(2</a:t>
            </a:r>
            <a:r>
              <a:rPr lang="en-US" sz="2000" b="0" i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10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3):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98950" y="5032138"/>
            <a:ext cx="3916900" cy="1356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8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4" name="Arrow: Right 13"/>
          <p:cNvSpPr/>
          <p:nvPr/>
        </p:nvSpPr>
        <p:spPr>
          <a:xfrm>
            <a:off x="7104031" y="5810239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2 5 8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698950" y="4765648"/>
            <a:ext cx="3916900" cy="14827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 (Else)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9577" y="2483815"/>
            <a:ext cx="6644148" cy="17294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range(6):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print("Finally finished!")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2080914"/>
            <a:ext cx="3916900" cy="2480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4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Finally finished!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9874" y="4518970"/>
            <a:ext cx="6644148" cy="17294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range(6):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x == 3: break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print(x)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print("Finally finished!")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1" y="3627038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/>
          <p:cNvSpPr/>
          <p:nvPr/>
        </p:nvSpPr>
        <p:spPr>
          <a:xfrm>
            <a:off x="7104031" y="5385827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2 5 8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59794" y="661858"/>
            <a:ext cx="5156056" cy="11471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dirty="0"/>
              <a:t>The else keyword in a for loop specifies a block of code to be executed when the loop is finished.</a:t>
            </a:r>
            <a:endParaRPr lang="en-US" sz="2000" dirty="0"/>
          </a:p>
        </p:txBody>
      </p:sp>
      <p:sp>
        <p:nvSpPr>
          <p:cNvPr id="16" name="Rectangle 15"/>
          <p:cNvSpPr/>
          <p:nvPr/>
        </p:nvSpPr>
        <p:spPr>
          <a:xfrm>
            <a:off x="9439742" y="4632218"/>
            <a:ext cx="2484771" cy="19567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The “else” block will NOT be executed if the loop is stopped by a “break” statement.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 (Nested)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9577" y="2936102"/>
            <a:ext cx="6644148" cy="20771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adj = ["big", "tasty"]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x in adj: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y in fruits: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print(x, y)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2936102"/>
            <a:ext cx="3916900" cy="2480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big apple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big banana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big cherry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tasty apple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tasty banana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tasty cherry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1" y="3627038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2 5 8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59794" y="1114146"/>
            <a:ext cx="5156056" cy="15405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dirty="0"/>
              <a:t>A nested loop is a loop inside a loop.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"inner loop" will be executed one time for each iteration of the "outer loop"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“for” Loops (“pass”)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9577" y="2936102"/>
            <a:ext cx="6644148" cy="20771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for x in [0, 1, 2]: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pass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2936102"/>
            <a:ext cx="3916900" cy="20771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1" y="3627038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2 5 8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59794" y="1114146"/>
            <a:ext cx="5156056" cy="15405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dirty="0"/>
              <a:t>“for” loops cannot be empty, but if you for some reason have a “for” loop with no content, put in the “pass” statement to avoid getting an error.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“while” Loops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9577" y="2936102"/>
            <a:ext cx="6644148" cy="20771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= 1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while</a:t>
            </a:r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i &lt; 6: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print(i)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 += 1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2936102"/>
            <a:ext cx="3916900" cy="20771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4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1" y="3627038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2 5 8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59794" y="1114146"/>
            <a:ext cx="5156056" cy="15405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dirty="0"/>
              <a:t>With the “while” loop we can execute a set of statements as long as a condition is true.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779578" y="5294665"/>
            <a:ext cx="10836272" cy="6145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Remember to increment “I”, or else the loop will continue forever.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“while” Loops (break &amp; continue)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9577" y="1823824"/>
            <a:ext cx="6644148" cy="20771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= 1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while i &lt; 6: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print(i)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i == 3: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nn-NO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break</a:t>
            </a:r>
            <a:endParaRPr lang="nn-NO" sz="2000" b="1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 += 1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8950" y="1823824"/>
            <a:ext cx="3916900" cy="20771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7104031" y="2514760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2 5 8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9577" y="4111670"/>
            <a:ext cx="6644148" cy="20771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= 0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while i &lt; 6: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 += 1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i == 3:</a:t>
            </a:r>
            <a:endParaRPr lang="nn-NO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nn-NO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continue</a:t>
            </a:r>
            <a:endParaRPr lang="nn-NO" sz="2000" b="1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n-NO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print(i)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98950" y="4111670"/>
            <a:ext cx="3916900" cy="20771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4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6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2" name="Arrow: Right 11"/>
          <p:cNvSpPr/>
          <p:nvPr/>
        </p:nvSpPr>
        <p:spPr>
          <a:xfrm>
            <a:off x="7104031" y="4802606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“while” Loops (Else)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7897" y="2541583"/>
            <a:ext cx="6142333" cy="20771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1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while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&lt; 6: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+= 1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is no longer less than 6")</a:t>
            </a:r>
            <a:endParaRPr lang="en-AU" sz="20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92013" y="2541582"/>
            <a:ext cx="4188250" cy="20771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4</a:t>
            </a:r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is no longer less than 6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6700535" y="3166606"/>
            <a:ext cx="6393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2 5 8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7897" y="4891541"/>
            <a:ext cx="10602366" cy="9291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With the “else” statement we can run a block of code once when</a:t>
            </a:r>
            <a:endParaRPr lang="en-US" sz="2000" dirty="0"/>
          </a:p>
          <a:p>
            <a:pPr algn="ctr"/>
            <a:r>
              <a:rPr lang="en-US" sz="2000" dirty="0"/>
              <a:t> the condition no longer is true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functions &amp; lambda</a:t>
            </a:r>
            <a:endParaRPr lang="en-US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Python a function is defined using the </a:t>
            </a:r>
            <a:r>
              <a:rPr lang="en-US" i="1" dirty="0"/>
              <a:t>def</a:t>
            </a:r>
            <a:r>
              <a:rPr lang="en-US" dirty="0"/>
              <a:t> keyword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01383" y="2944744"/>
            <a:ext cx="7589234" cy="19591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print("Hello from a function")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2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4818" y="2049404"/>
            <a:ext cx="7589234" cy="24110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Refsnes")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("Tobias")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4622559"/>
            <a:ext cx="7589234" cy="1625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Emil Refsnes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Tobias Refsnes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Linus Refsnes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6990" y="1051560"/>
            <a:ext cx="5888990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Arguments are often shortened to </a:t>
            </a:r>
            <a:r>
              <a:rPr lang="en-US" sz="2200" dirty="0" err="1"/>
              <a:t>args</a:t>
            </a:r>
            <a:r>
              <a:rPr lang="en-US" sz="2200" dirty="0"/>
              <a:t> in Python documentation.</a:t>
            </a:r>
            <a:endParaRPr lang="en-AU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8311" y="2049402"/>
            <a:ext cx="5232003" cy="24110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Refsnes")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("Tobias")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2049403"/>
            <a:ext cx="5531125" cy="24110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" +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("Emil", "Refsnes")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64312" y="4647062"/>
            <a:ext cx="5531125" cy="17593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" +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Arguments, *</a:t>
            </a:r>
            <a:r>
              <a:rPr lang="en-US" dirty="0" err="1"/>
              <a:t>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4818" y="3039125"/>
            <a:ext cx="7589234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(*kids):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kids[2])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("Emil", "Tobias",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Arguments, *</a:t>
            </a:r>
            <a:r>
              <a:rPr lang="en-US" dirty="0" err="1"/>
              <a:t>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4818" y="3039125"/>
            <a:ext cx="7589234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(*kids):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kids[2])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("Emil", "Tobias",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5159829"/>
            <a:ext cx="7589234" cy="1088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The youngest child is Linus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6190" y="1845945"/>
            <a:ext cx="5222875" cy="10648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This way the function will receive a tuple of arguments, and can access the items accordingly</a:t>
            </a:r>
            <a:endParaRPr lang="en-AU" sz="2200" dirty="0"/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5366657" y="2378757"/>
            <a:ext cx="979242" cy="952272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7957" y="3077308"/>
            <a:ext cx="11136086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(child3, child2, child1):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child3)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(child1 = "Emil", child2 = "Tobias", child3 =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7957" y="3077308"/>
            <a:ext cx="11136086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(child3, child2, child1):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child3)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(child1 = "Emil", child2 = "Tobias", child3 =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5159829"/>
            <a:ext cx="7589234" cy="1088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The youngest child is Linus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5899" y="1554938"/>
            <a:ext cx="5318144" cy="135635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We can send arguments with the </a:t>
            </a:r>
            <a:endParaRPr lang="en-US" sz="2200" dirty="0"/>
          </a:p>
          <a:p>
            <a:pPr algn="just"/>
            <a:r>
              <a:rPr lang="en-US" sz="2200" b="1" i="1" dirty="0"/>
              <a:t>key = value</a:t>
            </a:r>
            <a:r>
              <a:rPr lang="en-US" sz="2200" dirty="0"/>
              <a:t> syntax.</a:t>
            </a:r>
            <a:endParaRPr lang="en-US" sz="2200" dirty="0"/>
          </a:p>
          <a:p>
            <a:pPr algn="just"/>
            <a:r>
              <a:rPr lang="en-US" sz="2200" dirty="0"/>
              <a:t>This way the order of the arguments does not matter.</a:t>
            </a:r>
            <a:endParaRPr lang="en-AU" sz="2200" dirty="0"/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5366657" y="2233118"/>
            <a:ext cx="979242" cy="109791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Keyword Arguments, **</a:t>
            </a:r>
            <a:r>
              <a:rPr lang="en-US" dirty="0" err="1"/>
              <a:t>kwargs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3113149"/>
            <a:ext cx="8801573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(**kid):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print("His last name is " + kid["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"])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"Tobias",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"Refsnes")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Keyword Arguments, **</a:t>
            </a:r>
            <a:r>
              <a:rPr lang="en-US" dirty="0" err="1"/>
              <a:t>kwargs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3113149"/>
            <a:ext cx="8801573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(**kid):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print("His last name is " + kid["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"])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"Tobias",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"Refsnes")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5159829"/>
            <a:ext cx="7589234" cy="1088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His last name is Refsnes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5899" y="1785258"/>
            <a:ext cx="5318144" cy="11695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This way the function will receive a dictionary of arguments, and can access the items accordingly.</a:t>
            </a:r>
            <a:endParaRPr lang="en-AU" sz="2200" dirty="0"/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4822371" y="2370050"/>
            <a:ext cx="1523528" cy="105895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Parameter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2057400"/>
            <a:ext cx="8801573" cy="245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(country = "Norway"):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print("I am from " + country)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("Sweden")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("India")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("Brazil")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01382" y="4641046"/>
            <a:ext cx="7589234" cy="17961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Sweden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India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Norway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Brazil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 List as an Argument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2057400"/>
            <a:ext cx="8801573" cy="26349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(food):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for x in food: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print(x)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(fruits)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01382" y="4844142"/>
            <a:ext cx="7589234" cy="15930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apple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banana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cherry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&amp; 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3000" y="2057400"/>
            <a:ext cx="5512667" cy="21989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(x):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5 * x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(3))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(5))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(9))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04282" y="2360334"/>
            <a:ext cx="3511589" cy="15930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45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Arrow: Right 6"/>
          <p:cNvSpPr/>
          <p:nvPr/>
        </p:nvSpPr>
        <p:spPr>
          <a:xfrm>
            <a:off x="6540785" y="29145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143000" y="4883453"/>
            <a:ext cx="5512667" cy="127646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pass</a:t>
            </a:r>
            <a:endParaRPr lang="en-AU" sz="22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77380" y="4389755"/>
            <a:ext cx="4817745" cy="219900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function definitions cannot be empty, but if we for some reason have a function definition with no content, put in the </a:t>
            </a:r>
            <a:r>
              <a:rPr lang="en-US" sz="2200" b="1" i="1" dirty="0"/>
              <a:t>pass</a:t>
            </a:r>
            <a:r>
              <a:rPr lang="en-US" sz="2200" dirty="0"/>
              <a:t> statement to avoid getting an error.</a:t>
            </a:r>
            <a:endParaRPr lang="en-AU" sz="2200" dirty="0"/>
          </a:p>
        </p:txBody>
      </p:sp>
      <p:sp>
        <p:nvSpPr>
          <p:cNvPr id="10" name="Arrow: Right 9"/>
          <p:cNvSpPr/>
          <p:nvPr/>
        </p:nvSpPr>
        <p:spPr>
          <a:xfrm>
            <a:off x="5978987" y="524718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35428" y="2057400"/>
            <a:ext cx="6574971" cy="36093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tri_recursion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(k):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if(k &gt; 0):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result = k + </a:t>
            </a:r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tri_recursion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(k - 1)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print(result)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else: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result = 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return result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print("Recursion Example Results:")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tri_recursion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(6)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26693" y="2310881"/>
            <a:ext cx="4627850" cy="3102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Recursion Example Results: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6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21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704020202020204" pitchFamily="34" charset="0"/>
              <a:buChar char="•"/>
            </a:pPr>
            <a:r>
              <a:rPr lang="en-US" sz="2200" dirty="0"/>
              <a:t>A lambda function is a small anonymous function.</a:t>
            </a:r>
            <a:endParaRPr lang="en-US" sz="2200" dirty="0"/>
          </a:p>
          <a:p>
            <a:pPr algn="just">
              <a:buFont typeface="Arial" panose="020B0704020202020204" pitchFamily="34" charset="0"/>
              <a:buChar char="•"/>
            </a:pPr>
            <a:r>
              <a:rPr lang="en-US" sz="2200" dirty="0"/>
              <a:t>A lambda function can take any number of arguments, but can only have one expression.</a:t>
            </a:r>
            <a:endParaRPr lang="en-US" sz="2200" dirty="0"/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0557" y="3759770"/>
            <a:ext cx="7630886" cy="6702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lambda arguments : expression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79172"/>
            <a:ext cx="9872871" cy="4038600"/>
          </a:xfrm>
        </p:spPr>
        <p:txBody>
          <a:bodyPr>
            <a:normAutofit/>
          </a:bodyPr>
          <a:lstStyle/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43000" y="2079172"/>
            <a:ext cx="5644243" cy="11103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lambda a : a + 10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print(x(5))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2999" y="3429000"/>
            <a:ext cx="5644243" cy="11103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lambda a, b : a * b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print(x(5, 6))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2998" y="4849585"/>
            <a:ext cx="5644243" cy="11103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lambda a, b, c : a + b + c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print(x(5, 6, 2))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6693" y="2195026"/>
            <a:ext cx="3822307" cy="878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26692" y="3544854"/>
            <a:ext cx="3822307" cy="878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30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26692" y="4965439"/>
            <a:ext cx="3822307" cy="878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13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1" name="Arrow: Right 10"/>
          <p:cNvSpPr/>
          <p:nvPr/>
        </p:nvSpPr>
        <p:spPr>
          <a:xfrm>
            <a:off x="6574970" y="2392026"/>
            <a:ext cx="61859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Arrow: Right 11"/>
          <p:cNvSpPr/>
          <p:nvPr/>
        </p:nvSpPr>
        <p:spPr>
          <a:xfrm>
            <a:off x="6573076" y="3736413"/>
            <a:ext cx="61859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rrow: Right 12"/>
          <p:cNvSpPr/>
          <p:nvPr/>
        </p:nvSpPr>
        <p:spPr>
          <a:xfrm>
            <a:off x="6573076" y="5156781"/>
            <a:ext cx="61859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Lambda?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67066" y="2072016"/>
            <a:ext cx="8186530" cy="31024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myfunc(n):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return lambda a : a * n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mydoubler = myfunc(2)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mytripler = myfunc(3)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print(mydoubler(11))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print(mytripler(11))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67066" y="5305998"/>
            <a:ext cx="8186530" cy="11274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22</a:t>
            </a:r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33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04685" y="2428240"/>
            <a:ext cx="5382630" cy="20015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4400" dirty="0"/>
              <a:t>Thank you!</a:t>
            </a:r>
            <a:endParaRPr lang="en-AU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07D91D2FC448468F51D485BC1D6DA6" ma:contentTypeVersion="3" ma:contentTypeDescription="Create a new document." ma:contentTypeScope="" ma:versionID="c6051ea7ee6ff37683b0f8c01533e148">
  <xsd:schema xmlns:xsd="http://www.w3.org/2001/XMLSchema" xmlns:xs="http://www.w3.org/2001/XMLSchema" xmlns:p="http://schemas.microsoft.com/office/2006/metadata/properties" xmlns:ns2="d7262947-e457-4244-af88-a4355427ccde" targetNamespace="http://schemas.microsoft.com/office/2006/metadata/properties" ma:root="true" ma:fieldsID="6f800628f432177d92f1ead30b09b067" ns2:_="">
    <xsd:import namespace="d7262947-e457-4244-af88-a4355427cc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62947-e457-4244-af88-a4355427cc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DACBCF-F4D8-4B35-8A48-8AAAB91916F0}"/>
</file>

<file path=customXml/itemProps2.xml><?xml version="1.0" encoding="utf-8"?>
<ds:datastoreItem xmlns:ds="http://schemas.openxmlformats.org/officeDocument/2006/customXml" ds:itemID="{B02E58CA-353D-47ED-BD30-7833F909FBCC}"/>
</file>

<file path=customXml/itemProps3.xml><?xml version="1.0" encoding="utf-8"?>
<ds:datastoreItem xmlns:ds="http://schemas.openxmlformats.org/officeDocument/2006/customXml" ds:itemID="{DFA40818-FA8A-422A-97E5-FFAF1746DB31}"/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6231</Words>
  <Application>WPS Presentation</Application>
  <PresentationFormat>Widescreen</PresentationFormat>
  <Paragraphs>552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Arial</vt:lpstr>
      <vt:lpstr>SimSun</vt:lpstr>
      <vt:lpstr>Wingdings</vt:lpstr>
      <vt:lpstr>Corbel</vt:lpstr>
      <vt:lpstr>苹方-简</vt:lpstr>
      <vt:lpstr>Courier New</vt:lpstr>
      <vt:lpstr>Consolas</vt:lpstr>
      <vt:lpstr>Rockwell</vt:lpstr>
      <vt:lpstr>Tw Cen MT</vt:lpstr>
      <vt:lpstr>Microsoft YaHei</vt:lpstr>
      <vt:lpstr>汉仪旗黑</vt:lpstr>
      <vt:lpstr>Arial Unicode MS</vt:lpstr>
      <vt:lpstr>Aptos</vt:lpstr>
      <vt:lpstr>Helvetica Neue</vt:lpstr>
      <vt:lpstr>Basis</vt:lpstr>
      <vt:lpstr>Python loops</vt:lpstr>
      <vt:lpstr>Agenda</vt:lpstr>
      <vt:lpstr>Loops</vt:lpstr>
      <vt:lpstr>“for” Loops</vt:lpstr>
      <vt:lpstr>“for” Loops</vt:lpstr>
      <vt:lpstr>“for” Loops (Enumerate)</vt:lpstr>
      <vt:lpstr>“for” Loops (break &amp; continue)</vt:lpstr>
      <vt:lpstr>“for” Loops (range() func.)</vt:lpstr>
      <vt:lpstr>“for” Loops (Else)</vt:lpstr>
      <vt:lpstr>“for” Loops (Nested)</vt:lpstr>
      <vt:lpstr>“for” Loops (“pass”)</vt:lpstr>
      <vt:lpstr>“while” Loops</vt:lpstr>
      <vt:lpstr>“while” Loops (break &amp; continue)</vt:lpstr>
      <vt:lpstr>“while” Loops (Else)</vt:lpstr>
      <vt:lpstr>functions &amp; lambda</vt:lpstr>
      <vt:lpstr>Functions</vt:lpstr>
      <vt:lpstr>Arguments</vt:lpstr>
      <vt:lpstr>Arguments</vt:lpstr>
      <vt:lpstr>Arbitrary Arguments, *args</vt:lpstr>
      <vt:lpstr>Arbitrary Arguments, *args</vt:lpstr>
      <vt:lpstr>Keyword Arguments</vt:lpstr>
      <vt:lpstr>Keyword Arguments</vt:lpstr>
      <vt:lpstr>Arbitrary Keyword Arguments, **kwargs</vt:lpstr>
      <vt:lpstr>Arbitrary Keyword Arguments, **kwargs</vt:lpstr>
      <vt:lpstr>Default Parameter Value</vt:lpstr>
      <vt:lpstr>Passing a List as an Argument</vt:lpstr>
      <vt:lpstr>Return &amp; Pass</vt:lpstr>
      <vt:lpstr>Recursion</vt:lpstr>
      <vt:lpstr>Lambda</vt:lpstr>
      <vt:lpstr>Lambda</vt:lpstr>
      <vt:lpstr>Why Lambda?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 Salam</dc:creator>
  <cp:lastModifiedBy>KONOK</cp:lastModifiedBy>
  <cp:revision>6</cp:revision>
  <dcterms:created xsi:type="dcterms:W3CDTF">2026-10-06T04:27:27Z</dcterms:created>
  <dcterms:modified xsi:type="dcterms:W3CDTF">2026-10-06T04:27:27Z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42B3BEEA41ECF16A7578C46A4C8BF9B7_43</vt:lpwstr>
  </property>
  <property fmtid="{D5CDD505-2E9C-101B-9397-08002B2CF9AE}" pid="3" name="KSOProductBuildVer">
    <vt:lpwstr>1033-12.1.28496.28496</vt:lpwstr>
  </property>
  <property fmtid="{D5CDD505-2E9C-101B-9397-08002B2CF9AE}" pid="4" name="ContentTypeId">
    <vt:lpwstr>0x010100FC07D91D2FC448468F51D485BC1D6DA6</vt:lpwstr>
  </property>
</Properties>
</file>